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7"/>
  </p:notesMasterIdLst>
  <p:sldIdLst>
    <p:sldId id="321" r:id="rId5"/>
    <p:sldId id="322" r:id="rId6"/>
    <p:sldId id="323" r:id="rId7"/>
    <p:sldId id="307" r:id="rId8"/>
    <p:sldId id="310" r:id="rId9"/>
    <p:sldId id="313" r:id="rId10"/>
    <p:sldId id="292" r:id="rId11"/>
    <p:sldId id="291" r:id="rId12"/>
    <p:sldId id="318" r:id="rId13"/>
    <p:sldId id="319" r:id="rId14"/>
    <p:sldId id="320" r:id="rId15"/>
    <p:sldId id="31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rty, Anne" initials="CA" lastIdx="5" clrIdx="0">
    <p:extLst>
      <p:ext uri="{19B8F6BF-5375-455C-9EA6-DF929625EA0E}">
        <p15:presenceInfo xmlns:p15="http://schemas.microsoft.com/office/powerpoint/2012/main" userId="S::k1771048@kcl.ac.uk::58c097d6-c91f-4fc1-8022-8a02e1ab23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E128"/>
    <a:srgbClr val="0A2D50"/>
    <a:srgbClr val="5A6469"/>
    <a:srgbClr val="002395"/>
    <a:srgbClr val="009EA0"/>
    <a:srgbClr val="501491"/>
    <a:srgbClr val="99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8321C2-6E61-4107-AC72-6731060DD5D0}" v="11" dt="2020-05-06T12:50:31.1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64" autoAdjust="0"/>
    <p:restoredTop sz="86384" autoAdjust="0"/>
  </p:normalViewPr>
  <p:slideViewPr>
    <p:cSldViewPr snapToGrid="0">
      <p:cViewPr varScale="1">
        <p:scale>
          <a:sx n="95" d="100"/>
          <a:sy n="95" d="100"/>
        </p:scale>
        <p:origin x="78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ty, Anne" userId="58c097d6-c91f-4fc1-8022-8a02e1ab2328" providerId="ADAL" clId="{9D8321C2-6E61-4107-AC72-6731060DD5D0}"/>
    <pc:docChg chg="custSel modSld sldOrd">
      <pc:chgData name="Carty, Anne" userId="58c097d6-c91f-4fc1-8022-8a02e1ab2328" providerId="ADAL" clId="{9D8321C2-6E61-4107-AC72-6731060DD5D0}" dt="2020-05-06T12:50:31.109" v="17"/>
      <pc:docMkLst>
        <pc:docMk/>
      </pc:docMkLst>
      <pc:sldChg chg="addCm modCm">
        <pc:chgData name="Carty, Anne" userId="58c097d6-c91f-4fc1-8022-8a02e1ab2328" providerId="ADAL" clId="{9D8321C2-6E61-4107-AC72-6731060DD5D0}" dt="2020-05-06T12:50:31.109" v="17"/>
        <pc:sldMkLst>
          <pc:docMk/>
          <pc:sldMk cId="2188348628" sldId="291"/>
        </pc:sldMkLst>
      </pc:sldChg>
      <pc:sldChg chg="ord">
        <pc:chgData name="Carty, Anne" userId="58c097d6-c91f-4fc1-8022-8a02e1ab2328" providerId="ADAL" clId="{9D8321C2-6E61-4107-AC72-6731060DD5D0}" dt="2020-05-06T12:25:23.387" v="7"/>
        <pc:sldMkLst>
          <pc:docMk/>
          <pc:sldMk cId="3956161348" sldId="301"/>
        </pc:sldMkLst>
      </pc:sldChg>
      <pc:sldChg chg="addCm modCm">
        <pc:chgData name="Carty, Anne" userId="58c097d6-c91f-4fc1-8022-8a02e1ab2328" providerId="ADAL" clId="{9D8321C2-6E61-4107-AC72-6731060DD5D0}" dt="2020-05-06T12:25:17.445" v="5"/>
        <pc:sldMkLst>
          <pc:docMk/>
          <pc:sldMk cId="2954901381" sldId="302"/>
        </pc:sldMkLst>
      </pc:sldChg>
      <pc:sldChg chg="addCm modCm">
        <pc:chgData name="Carty, Anne" userId="58c097d6-c91f-4fc1-8022-8a02e1ab2328" providerId="ADAL" clId="{9D8321C2-6E61-4107-AC72-6731060DD5D0}" dt="2020-05-06T12:24:30.676" v="3"/>
        <pc:sldMkLst>
          <pc:docMk/>
          <pc:sldMk cId="2734250657" sldId="30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220CBB-D972-D444-8592-B23A7758CEF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B49CD-7E1B-C543-B23F-34FDB672E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049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040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12D09-9D75-8A3F-47B3-456842DF8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2BC21-2A6A-1E70-5034-C2A19F1B9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8E44B-5589-12B9-F06E-BAE5BD93B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914F1-B05E-2091-9D77-F0369C428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462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44DDA-9E47-4D67-02C2-EA3902BF8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7F4E88-CF45-8FCD-E5CC-4919343D4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E406A-8A8C-4318-0A21-0B30721F9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5EE27-E867-9100-EF1C-73A4F8EA9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01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12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3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031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42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4142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20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7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%20LOGO%20WOB.png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_box_red_485_rgb.png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UK Cover slide">
    <p:bg>
      <p:bgPr>
        <a:solidFill>
          <a:srgbClr val="CDD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05DBA87-7AB9-4144-A17F-43A9C30380F1}"/>
              </a:ext>
            </a:extLst>
          </p:cNvPr>
          <p:cNvGrpSpPr/>
          <p:nvPr userDrawn="1"/>
        </p:nvGrpSpPr>
        <p:grpSpPr>
          <a:xfrm>
            <a:off x="2744511" y="869793"/>
            <a:ext cx="6692677" cy="5118415"/>
            <a:chOff x="1211282" y="869792"/>
            <a:chExt cx="6721435" cy="51184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ECAA9C9-0BE4-5F43-B408-44CF4ECDD428}"/>
                </a:ext>
              </a:extLst>
            </p:cNvPr>
            <p:cNvSpPr/>
            <p:nvPr userDrawn="1"/>
          </p:nvSpPr>
          <p:spPr>
            <a:xfrm>
              <a:off x="1211282" y="869792"/>
              <a:ext cx="6721435" cy="5118415"/>
            </a:xfrm>
            <a:prstGeom prst="rect">
              <a:avLst/>
            </a:prstGeom>
            <a:solidFill>
              <a:srgbClr val="E223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2"/>
            </a:p>
          </p:txBody>
        </p:sp>
        <p:pic>
          <p:nvPicPr>
            <p:cNvPr id="5" name="KCL-LOGO-INTERNATIONAL.png">
              <a:extLst>
                <a:ext uri="{FF2B5EF4-FFF2-40B4-BE49-F238E27FC236}">
                  <a16:creationId xmlns:a16="http://schemas.microsoft.com/office/drawing/2014/main" id="{B036F538-478A-B641-903C-F7985F6DF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r:link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24655" y="1671090"/>
              <a:ext cx="5127602" cy="35540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8894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wo statues in front of Bush House building&#10;&#10;">
            <a:extLst>
              <a:ext uri="{FF2B5EF4-FFF2-40B4-BE49-F238E27FC236}">
                <a16:creationId xmlns:a16="http://schemas.microsoft.com/office/drawing/2014/main" id="{F4793EB2-2819-E843-A12D-5A71221FF3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7708" y="0"/>
            <a:ext cx="7084291" cy="6858000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-1" y="-1"/>
            <a:ext cx="5107707" cy="5554979"/>
          </a:xfrm>
          <a:prstGeom prst="rect">
            <a:avLst/>
          </a:prstGeom>
          <a:solidFill>
            <a:srgbClr val="5A6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4157764" cy="2953816"/>
          </a:xfrm>
        </p:spPr>
        <p:txBody>
          <a:bodyPr anchor="t" anchorCtr="0">
            <a:normAutofit/>
          </a:bodyPr>
          <a:lstStyle>
            <a:lvl1pPr>
              <a:defRPr sz="4000" b="1" i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4157764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310718" y="5733981"/>
            <a:ext cx="4157765" cy="944280"/>
          </a:xfrm>
        </p:spPr>
        <p:txBody>
          <a:bodyPr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78102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 - joint - alt 3">
    <p:bg>
      <p:bgPr>
        <a:solidFill>
          <a:srgbClr val="5A6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wo statues in front of Bush House building&#10;&#10;">
            <a:extLst>
              <a:ext uri="{FF2B5EF4-FFF2-40B4-BE49-F238E27FC236}">
                <a16:creationId xmlns:a16="http://schemas.microsoft.com/office/drawing/2014/main" id="{F4793EB2-2819-E843-A12D-5A71221FF3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6275" y="0"/>
            <a:ext cx="81257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 i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51808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ush House entrance">
            <a:extLst>
              <a:ext uri="{FF2B5EF4-FFF2-40B4-BE49-F238E27FC236}">
                <a16:creationId xmlns:a16="http://schemas.microsoft.com/office/drawing/2014/main" id="{BB2856B8-0170-3D42-B170-7ED5ACB03B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2950" y="-736"/>
            <a:ext cx="8126158" cy="6858000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-1"/>
            <a:ext cx="4065973" cy="5554979"/>
          </a:xfrm>
          <a:prstGeom prst="rect">
            <a:avLst/>
          </a:prstGeom>
          <a:solidFill>
            <a:srgbClr val="5A6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 i="0">
                <a:solidFill>
                  <a:srgbClr val="FFFFFF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310718" y="5733981"/>
            <a:ext cx="3551067" cy="944280"/>
          </a:xfrm>
        </p:spPr>
        <p:txBody>
          <a:bodyPr>
            <a:noAutofit/>
          </a:bodyPr>
          <a:lstStyle>
            <a:lvl1pPr>
              <a:defRPr sz="2000"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1522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 - joint - alt 3">
    <p:bg>
      <p:bgPr>
        <a:solidFill>
          <a:srgbClr val="5A6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ush House entrance">
            <a:extLst>
              <a:ext uri="{FF2B5EF4-FFF2-40B4-BE49-F238E27FC236}">
                <a16:creationId xmlns:a16="http://schemas.microsoft.com/office/drawing/2014/main" id="{BB2856B8-0170-3D42-B170-7ED5ACB03B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2950" y="-736"/>
            <a:ext cx="812615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 i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387262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duates standing in front of a crowd posing for the camera&#10;">
            <a:extLst>
              <a:ext uri="{FF2B5EF4-FFF2-40B4-BE49-F238E27FC236}">
                <a16:creationId xmlns:a16="http://schemas.microsoft.com/office/drawing/2014/main" id="{BE2D952E-64D5-A64E-9959-50F7F86788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3512" y="0"/>
            <a:ext cx="8125034" cy="6858000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-1"/>
            <a:ext cx="4065973" cy="5554979"/>
          </a:xfrm>
          <a:prstGeom prst="rect">
            <a:avLst/>
          </a:prstGeom>
          <a:solidFill>
            <a:srgbClr val="5A6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310718" y="5733981"/>
            <a:ext cx="3551067" cy="94428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4653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 - joint - alt 3">
    <p:bg>
      <p:bgPr>
        <a:solidFill>
          <a:srgbClr val="5A6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duates standing in front of a crowd posing for the camera&#10;">
            <a:extLst>
              <a:ext uri="{FF2B5EF4-FFF2-40B4-BE49-F238E27FC236}">
                <a16:creationId xmlns:a16="http://schemas.microsoft.com/office/drawing/2014/main" id="{BE2D952E-64D5-A64E-9959-50F7F86788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3512" y="0"/>
            <a:ext cx="812503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31862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oup of students walking around Strand Campus">
            <a:extLst>
              <a:ext uri="{FF2B5EF4-FFF2-40B4-BE49-F238E27FC236}">
                <a16:creationId xmlns:a16="http://schemas.microsoft.com/office/drawing/2014/main" id="{178B1CE5-1B5E-C947-8C99-B485A71AE7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160" y="-736"/>
            <a:ext cx="8123738" cy="6858000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-1"/>
            <a:ext cx="4065973" cy="5554979"/>
          </a:xfrm>
          <a:prstGeom prst="rect">
            <a:avLst/>
          </a:prstGeom>
          <a:solidFill>
            <a:srgbClr val="5A6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310718" y="5733981"/>
            <a:ext cx="3551067" cy="94428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44154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 - joint - alt 3">
    <p:bg>
      <p:bgPr>
        <a:solidFill>
          <a:srgbClr val="5A6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oup of students walking around Strand Campus">
            <a:extLst>
              <a:ext uri="{FF2B5EF4-FFF2-40B4-BE49-F238E27FC236}">
                <a16:creationId xmlns:a16="http://schemas.microsoft.com/office/drawing/2014/main" id="{178B1CE5-1B5E-C947-8C99-B485A71AE7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160" y="-736"/>
            <a:ext cx="812373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5537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bullets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342900" indent="-3429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342900" indent="-3429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268715" indent="-26871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537429" indent="-26871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4pPr>
            <a:lvl5pPr marL="806144" indent="-26871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5pPr>
            <a:lvl6pPr marL="2286000" indent="0">
              <a:buNone/>
              <a:defRPr/>
            </a:lvl6pPr>
          </a:lstStyle>
          <a:p>
            <a:r>
              <a:rPr lang="en-US" dirty="0"/>
              <a:t>First level bullet point (indent x0)</a:t>
            </a:r>
          </a:p>
          <a:p>
            <a:pPr lvl="3"/>
            <a:r>
              <a:rPr lang="en-US" dirty="0"/>
              <a:t>Second level bullet point (indent x1)</a:t>
            </a:r>
          </a:p>
          <a:p>
            <a:pPr lvl="4"/>
            <a:r>
              <a:rPr lang="en-US" dirty="0"/>
              <a:t>Third level bullet point (indent x2)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Grounding Surgical Action Triplets with Instrument Instance Segmentation</a:t>
            </a:r>
            <a:endParaRPr lang="en-US" sz="1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rgbClr val="C2B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2E93D2D-11C4-26E0-81EB-35FE7233EF35}"/>
              </a:ext>
            </a:extLst>
          </p:cNvPr>
          <p:cNvCxnSpPr/>
          <p:nvPr userDrawn="1"/>
        </p:nvCxnSpPr>
        <p:spPr>
          <a:xfrm>
            <a:off x="293298" y="6443930"/>
            <a:ext cx="1161978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47274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text and bullet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Two columns – text and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0A2D50"/>
                </a:solidFill>
                <a:latin typeface="+mj-lt"/>
                <a:cs typeface="Impact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pPr marL="0" indent="0">
              <a:buNone/>
            </a:pPr>
            <a:r>
              <a:rPr lang="en-US" dirty="0"/>
              <a:t>First line of text/heading/intro would go here, remove bullet (indent x0)</a:t>
            </a:r>
          </a:p>
          <a:p>
            <a:pPr lvl="1"/>
            <a:r>
              <a:rPr lang="en-US" dirty="0"/>
              <a:t>Second line of text would go here (remove bullet, indent x1)</a:t>
            </a:r>
          </a:p>
          <a:p>
            <a:pPr lvl="2"/>
            <a:r>
              <a:rPr lang="en-US" dirty="0"/>
              <a:t>First level bullet point (indent x2)</a:t>
            </a:r>
          </a:p>
          <a:p>
            <a:pPr lvl="3"/>
            <a:r>
              <a:rPr lang="en-US" dirty="0"/>
              <a:t>Second level bullet point (indent x3)</a:t>
            </a:r>
          </a:p>
          <a:p>
            <a:pPr lvl="4"/>
            <a:r>
              <a:rPr lang="en-US" dirty="0"/>
              <a:t>Third level bullet point (indent x4)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0A2D50"/>
                </a:solidFill>
                <a:latin typeface="+mj-lt"/>
                <a:cs typeface="Impact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line of text/heading/intro would go here, remove bullet (indent x0)</a:t>
            </a:r>
          </a:p>
          <a:p>
            <a:pPr lvl="1"/>
            <a:r>
              <a:rPr lang="en-US" dirty="0"/>
              <a:t>Second line of text would go here (remove bullet, indent x1)</a:t>
            </a:r>
          </a:p>
          <a:p>
            <a:pPr lvl="2"/>
            <a:r>
              <a:rPr lang="en-US" dirty="0"/>
              <a:t>First level bullet point (indent x2)</a:t>
            </a:r>
          </a:p>
          <a:p>
            <a:pPr lvl="3"/>
            <a:r>
              <a:rPr lang="en-US" dirty="0"/>
              <a:t>Second level bullet point (indent x3)</a:t>
            </a:r>
          </a:p>
          <a:p>
            <a:pPr lvl="4"/>
            <a:r>
              <a:rPr lang="en-US" dirty="0"/>
              <a:t>Third level bullet point (indent x4)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Grounding Surgical Action Triplets with Instrument Instance Segmentation</a:t>
            </a:r>
            <a:endParaRPr lang="en-US" sz="1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54215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bullets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GB" dirty="0"/>
              <a:t>Two columns – bullets only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level bullet point (indent x0)</a:t>
            </a:r>
          </a:p>
          <a:p>
            <a:pPr lvl="1"/>
            <a:r>
              <a:rPr lang="en-US" dirty="0"/>
              <a:t>Second level bullet point (indent x1)</a:t>
            </a:r>
          </a:p>
          <a:p>
            <a:pPr lvl="2"/>
            <a:r>
              <a:rPr lang="en-US" dirty="0"/>
              <a:t>Third level bullet point (indent x2)</a:t>
            </a:r>
          </a:p>
          <a:p>
            <a:pPr lvl="3"/>
            <a:r>
              <a:rPr lang="en-US" dirty="0"/>
              <a:t>Fourth level bullet point (indent x3)</a:t>
            </a:r>
          </a:p>
          <a:p>
            <a:pPr lvl="4"/>
            <a:r>
              <a:rPr lang="en-US" dirty="0"/>
              <a:t>Fifth level bullet point (indent x4)</a:t>
            </a:r>
          </a:p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level bullet point (indent x0)</a:t>
            </a:r>
          </a:p>
          <a:p>
            <a:pPr lvl="1"/>
            <a:r>
              <a:rPr lang="en-US" dirty="0"/>
              <a:t>Second level bullet point (indent x1)</a:t>
            </a:r>
          </a:p>
          <a:p>
            <a:pPr lvl="2"/>
            <a:r>
              <a:rPr lang="en-US" dirty="0"/>
              <a:t>Third level bullet point (indent x2)</a:t>
            </a:r>
          </a:p>
          <a:p>
            <a:pPr lvl="3"/>
            <a:r>
              <a:rPr lang="en-US" dirty="0"/>
              <a:t>Fourth level bullet point (indent x3)</a:t>
            </a:r>
          </a:p>
          <a:p>
            <a:pPr lvl="4"/>
            <a:r>
              <a:rPr lang="en-US" dirty="0"/>
              <a:t>Fifth level bullet point (indent x4)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Grounding Surgical Action Triplets with Instrument Instance Segmentation</a:t>
            </a:r>
            <a:endParaRPr lang="en-US" sz="1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507567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- text/bullets and image - alt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Two columns – text/bullets and image – alt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0A2D50"/>
                </a:solidFill>
                <a:latin typeface="+mj-lt"/>
                <a:cs typeface="Impact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1991"/>
            </a:lvl4pPr>
            <a:lvl5pPr marL="806144" indent="-268715">
              <a:defRPr sz="1991"/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line of text/heading/intro would go here, remove bullet (indent x0)</a:t>
            </a:r>
          </a:p>
          <a:p>
            <a:pPr lvl="1"/>
            <a:r>
              <a:rPr lang="en-US" dirty="0"/>
              <a:t>Second line of text would go here (remove bullet, indent x1)</a:t>
            </a:r>
          </a:p>
          <a:p>
            <a:pPr lvl="2"/>
            <a:r>
              <a:rPr lang="en-US" dirty="0"/>
              <a:t>First level bullet point (indent x2)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Grounding Surgical Action Triplets with Instrument Instance Segmentation</a:t>
            </a:r>
            <a:endParaRPr lang="en-US" sz="1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335667" y="1089025"/>
            <a:ext cx="5376333" cy="48609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318E209-0CAC-A0A8-74D0-5AE0513A9E9E}"/>
              </a:ext>
            </a:extLst>
          </p:cNvPr>
          <p:cNvCxnSpPr/>
          <p:nvPr userDrawn="1"/>
        </p:nvCxnSpPr>
        <p:spPr>
          <a:xfrm>
            <a:off x="293298" y="6443930"/>
            <a:ext cx="1161978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21960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– text/bullets and image – al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Two columns – text/bullets and image – alt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0A2D50"/>
                </a:solidFill>
                <a:latin typeface="+mj-lt"/>
                <a:cs typeface="Impact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line of text/heading/intro would go here, remove bullet (indent x0)</a:t>
            </a:r>
          </a:p>
          <a:p>
            <a:pPr lvl="1"/>
            <a:r>
              <a:rPr lang="en-US" dirty="0"/>
              <a:t>Second line of text would go here (remove bullet, indent x1)</a:t>
            </a:r>
          </a:p>
          <a:p>
            <a:pPr lvl="2"/>
            <a:r>
              <a:rPr lang="en-US" dirty="0"/>
              <a:t>First level bullet point (indent x2)</a:t>
            </a:r>
          </a:p>
          <a:p>
            <a:pPr lvl="3"/>
            <a:r>
              <a:rPr lang="en-US" dirty="0"/>
              <a:t>Second level bullet point (indent x3)</a:t>
            </a:r>
          </a:p>
          <a:p>
            <a:pPr lvl="4"/>
            <a:r>
              <a:rPr lang="en-US" dirty="0"/>
              <a:t>Third level bullet point (indent x4)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Grounding Surgical Action Triplets with Instrument Instance Segmentation</a:t>
            </a:r>
            <a:endParaRPr lang="en-US" sz="1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sz="1200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0001" y="1088356"/>
            <a:ext cx="5376333" cy="48609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7D1C0C6-082B-8C4D-5FB4-5314E94E56F2}"/>
              </a:ext>
            </a:extLst>
          </p:cNvPr>
          <p:cNvCxnSpPr/>
          <p:nvPr userDrawn="1"/>
        </p:nvCxnSpPr>
        <p:spPr>
          <a:xfrm>
            <a:off x="293298" y="6443930"/>
            <a:ext cx="1161978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119388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– bullets and image – alt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Two columns – bullets and image – alt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lang="en-GB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level bullet point (indent x0)</a:t>
            </a:r>
          </a:p>
          <a:p>
            <a:pPr lvl="1"/>
            <a:r>
              <a:rPr lang="en-US" dirty="0"/>
              <a:t>Second level bullet point (indent x1)</a:t>
            </a:r>
          </a:p>
          <a:p>
            <a:pPr lvl="2"/>
            <a:r>
              <a:rPr lang="en-US" dirty="0"/>
              <a:t>Third level bullet point (indent x2)</a:t>
            </a:r>
          </a:p>
          <a:p>
            <a:pPr lvl="3"/>
            <a:r>
              <a:rPr lang="en-US" dirty="0"/>
              <a:t>Fourth level bullet point (indent x3)</a:t>
            </a:r>
          </a:p>
          <a:p>
            <a:pPr lvl="4"/>
            <a:r>
              <a:rPr lang="en-US" dirty="0"/>
              <a:t>Fifth level bullet point (indent x4)</a:t>
            </a:r>
          </a:p>
          <a:p>
            <a:pPr lvl="0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Grounding Surgical Action Triplets with Instrument Instance Segmentation</a:t>
            </a:r>
            <a:endParaRPr lang="en-US" sz="1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sz="1200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335667" y="1089025"/>
            <a:ext cx="5376333" cy="4860925"/>
          </a:xfrm>
        </p:spPr>
        <p:txBody>
          <a:bodyPr/>
          <a:lstStyle/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16388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– bullets and image – al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Two columns – bullets and image – alt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342900" indent="-342900"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342900" indent="-342900"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268714" indent="0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537429" indent="0">
              <a:buFont typeface="Arial" panose="020B0604020202020204" pitchFamily="34" charset="0"/>
              <a:buNone/>
              <a:defRPr sz="2000">
                <a:latin typeface="+mn-lt"/>
              </a:defRPr>
            </a:lvl5pPr>
            <a:lvl6pPr marL="2286000" indent="0">
              <a:buNone/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level bullet point (indent x0)</a:t>
            </a:r>
          </a:p>
          <a:p>
            <a:pPr lvl="1"/>
            <a:r>
              <a:rPr lang="en-US" dirty="0"/>
              <a:t>Second level bullet point (indent x1)</a:t>
            </a:r>
          </a:p>
          <a:p>
            <a:pPr lvl="2"/>
            <a:r>
              <a:rPr lang="en-US" dirty="0"/>
              <a:t>Third level bullet point (indent x2)</a:t>
            </a:r>
          </a:p>
          <a:p>
            <a:pPr lvl="3"/>
            <a:r>
              <a:rPr lang="en-US" dirty="0"/>
              <a:t>Fourth level bullet point (indent x3)</a:t>
            </a:r>
          </a:p>
          <a:p>
            <a:pPr lvl="4"/>
            <a:r>
              <a:rPr lang="en-US" dirty="0"/>
              <a:t>Fifth level bullet point (indent x4)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Grounding Surgical Action Triplets with Instrument Instance Segmentation</a:t>
            </a:r>
            <a:endParaRPr lang="en-US" sz="1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sz="1200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0001" y="1088356"/>
            <a:ext cx="5376333" cy="4860925"/>
          </a:xfrm>
        </p:spPr>
        <p:txBody>
          <a:bodyPr/>
          <a:lstStyle/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43486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x1 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Picture x1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Grounding Surgical Action Triplets with Instrument Instance Segmentation</a:t>
            </a:r>
            <a:endParaRPr lang="en-US" sz="1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sz="12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rgbClr val="C2B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34C904-740B-E84D-B324-36B6DE7B23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9425" y="1049338"/>
            <a:ext cx="11233150" cy="475879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029D345-CF89-564D-B6D0-39BB56CBE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2063" y="5949280"/>
            <a:ext cx="11280263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AA6C2F0-C39D-8F60-B29F-9FE9ED54D33B}"/>
              </a:ext>
            </a:extLst>
          </p:cNvPr>
          <p:cNvCxnSpPr/>
          <p:nvPr userDrawn="1"/>
        </p:nvCxnSpPr>
        <p:spPr>
          <a:xfrm>
            <a:off x="293298" y="6443930"/>
            <a:ext cx="1161978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318805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4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2" y="1088720"/>
            <a:ext cx="5496000" cy="225028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1" y="5949280"/>
            <a:ext cx="11232000" cy="548720"/>
          </a:xfrm>
        </p:spPr>
        <p:txBody>
          <a:bodyPr/>
          <a:lstStyle>
            <a:lvl1pPr marL="0" indent="0">
              <a:buNone/>
              <a:defRPr sz="1394"/>
            </a:lvl1pPr>
            <a:lvl2pPr marL="455234" indent="0">
              <a:buNone/>
              <a:defRPr sz="1195"/>
            </a:lvl2pPr>
            <a:lvl3pPr marL="910468" indent="0">
              <a:buNone/>
              <a:defRPr sz="996"/>
            </a:lvl3pPr>
            <a:lvl4pPr marL="1365702" indent="0">
              <a:buNone/>
              <a:defRPr sz="896"/>
            </a:lvl4pPr>
            <a:lvl5pPr marL="1820936" indent="0">
              <a:buNone/>
              <a:defRPr sz="896"/>
            </a:lvl5pPr>
            <a:lvl6pPr marL="2276170" indent="0">
              <a:buNone/>
              <a:defRPr sz="896"/>
            </a:lvl6pPr>
            <a:lvl7pPr marL="2731404" indent="0">
              <a:buNone/>
              <a:defRPr sz="896"/>
            </a:lvl7pPr>
            <a:lvl8pPr marL="3186638" indent="0">
              <a:buNone/>
              <a:defRPr sz="896"/>
            </a:lvl8pPr>
            <a:lvl9pPr marL="3641872" indent="0">
              <a:buNone/>
              <a:defRPr sz="896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Grounding Surgical Action Triplets with Instrument Instance Segmentation</a:t>
            </a:r>
            <a:endParaRPr lang="en-US" sz="1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sz="1200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2" y="3519000"/>
            <a:ext cx="5496000" cy="225460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6215999" y="1088720"/>
            <a:ext cx="5499043" cy="225028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6215999" y="3519000"/>
            <a:ext cx="5499043" cy="225460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Picture x4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416929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6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3" y="1088720"/>
            <a:ext cx="3600028" cy="225028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1" y="5949280"/>
            <a:ext cx="11232000" cy="548720"/>
          </a:xfrm>
        </p:spPr>
        <p:txBody>
          <a:bodyPr/>
          <a:lstStyle>
            <a:lvl1pPr marL="0" indent="0">
              <a:buNone/>
              <a:defRPr sz="1394"/>
            </a:lvl1pPr>
            <a:lvl2pPr marL="455234" indent="0">
              <a:buNone/>
              <a:defRPr sz="1195"/>
            </a:lvl2pPr>
            <a:lvl3pPr marL="910468" indent="0">
              <a:buNone/>
              <a:defRPr sz="996"/>
            </a:lvl3pPr>
            <a:lvl4pPr marL="1365702" indent="0">
              <a:buNone/>
              <a:defRPr sz="896"/>
            </a:lvl4pPr>
            <a:lvl5pPr marL="1820936" indent="0">
              <a:buNone/>
              <a:defRPr sz="896"/>
            </a:lvl5pPr>
            <a:lvl6pPr marL="2276170" indent="0">
              <a:buNone/>
              <a:defRPr sz="896"/>
            </a:lvl6pPr>
            <a:lvl7pPr marL="2731404" indent="0">
              <a:buNone/>
              <a:defRPr sz="896"/>
            </a:lvl7pPr>
            <a:lvl8pPr marL="3186638" indent="0">
              <a:buNone/>
              <a:defRPr sz="896"/>
            </a:lvl8pPr>
            <a:lvl9pPr marL="3641872" indent="0">
              <a:buNone/>
              <a:defRPr sz="896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Grounding Surgical Action Triplets with Instrument Instance Segmentation</a:t>
            </a:r>
            <a:endParaRPr lang="en-US" sz="1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sz="1200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3" y="3519000"/>
            <a:ext cx="3600028" cy="225460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8111970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8111970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Picture x6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16"/>
          </p:nvPr>
        </p:nvSpPr>
        <p:spPr>
          <a:xfrm>
            <a:off x="4295986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idx="17"/>
          </p:nvPr>
        </p:nvSpPr>
        <p:spPr>
          <a:xfrm>
            <a:off x="4295986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02871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81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53732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sea 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81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756785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81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10800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568666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sky blue">
    <p:bg>
      <p:bgPr>
        <a:solidFill>
          <a:srgbClr val="999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81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420538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5A6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D64C56-7BE9-5D41-824D-0319FFA616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9623" y="3420000"/>
            <a:ext cx="11231999" cy="2520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b="1" dirty="0">
                <a:solidFill>
                  <a:schemeClr val="bg1"/>
                </a:solidFill>
              </a:rPr>
              <a:t>Contact details/for more information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Contact details 1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Contact details 2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Contact details 3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+44 (0)20 7848 XXXX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 err="1">
                <a:solidFill>
                  <a:schemeClr val="bg1"/>
                </a:solidFill>
              </a:rPr>
              <a:t>xxxx@kcl.ac.uk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 err="1">
                <a:solidFill>
                  <a:schemeClr val="bg1"/>
                </a:solidFill>
              </a:rPr>
              <a:t>www.kcl.ac.uk</a:t>
            </a:r>
            <a:r>
              <a:rPr lang="en-GB" dirty="0">
                <a:solidFill>
                  <a:schemeClr val="bg1"/>
                </a:solidFill>
              </a:rPr>
              <a:t>/</a:t>
            </a:r>
            <a:r>
              <a:rPr lang="en-GB" dirty="0" err="1">
                <a:solidFill>
                  <a:schemeClr val="bg1"/>
                </a:solidFill>
              </a:rPr>
              <a:t>xxxx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9623" y="2184934"/>
            <a:ext cx="7662972" cy="1053665"/>
          </a:xfrm>
        </p:spPr>
        <p:txBody>
          <a:bodyPr anchor="b" anchorCtr="0">
            <a:normAutofit/>
          </a:bodyPr>
          <a:lstStyle>
            <a:lvl1pPr>
              <a:defRPr sz="45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Thank you</a:t>
            </a:r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 userDrawn="1"/>
        </p:nvGrpSpPr>
        <p:grpSpPr>
          <a:xfrm>
            <a:off x="10489316" y="1"/>
            <a:ext cx="1702684" cy="1303021"/>
            <a:chOff x="7949775" y="1"/>
            <a:chExt cx="1194225" cy="910000"/>
          </a:xfrm>
        </p:grpSpPr>
        <p:sp>
          <p:nvSpPr>
            <p:cNvPr id="8" name="Rectangle 7"/>
            <p:cNvSpPr/>
            <p:nvPr userDrawn="1"/>
          </p:nvSpPr>
          <p:spPr>
            <a:xfrm>
              <a:off x="7949775" y="1"/>
              <a:ext cx="1194225" cy="91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2"/>
            </a:p>
          </p:txBody>
        </p:sp>
        <p:pic>
          <p:nvPicPr>
            <p:cNvPr id="9" name="KCL-LOGO-UK-1.png"/>
            <p:cNvPicPr>
              <a:picLocks noChangeAspect="1"/>
            </p:cNvPicPr>
            <p:nvPr userDrawn="1"/>
          </p:nvPicPr>
          <p:blipFill>
            <a:blip r:embed="rId2" r:link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49775" y="258"/>
              <a:ext cx="1194225" cy="909486"/>
            </a:xfrm>
            <a:prstGeom prst="rect">
              <a:avLst/>
            </a:prstGeom>
          </p:spPr>
        </p:pic>
      </p:grp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2F5BC61-7D93-C442-AAE8-F327F7EC18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623" y="6121401"/>
            <a:ext cx="11231999" cy="380749"/>
          </a:xfrm>
        </p:spPr>
        <p:txBody>
          <a:bodyPr wrap="square">
            <a:noAutofit/>
          </a:bodyPr>
          <a:lstStyle>
            <a:lvl1pPr marL="0" marR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2D50"/>
              </a:buClr>
              <a:buSzTx/>
              <a:buFont typeface="Arial"/>
              <a:buNone/>
              <a:tabLst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2D50"/>
              </a:buClr>
              <a:buSzTx/>
              <a:buFont typeface="Arial"/>
              <a:buNone/>
              <a:tabLst/>
              <a:defRPr/>
            </a:pPr>
            <a:r>
              <a:rPr lang="en-US" sz="1600" dirty="0">
                <a:latin typeface="Georgia" panose="02040502050405020303" pitchFamily="18" charset="0"/>
              </a:rPr>
              <a:t>© 2020 King’s College London. All rights reserved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53055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00" y="1089220"/>
            <a:ext cx="11232000" cy="531158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4916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54" r:id="rId2"/>
    <p:sldLayoutId id="2147483758" r:id="rId3"/>
    <p:sldLayoutId id="2147483755" r:id="rId4"/>
    <p:sldLayoutId id="2147483759" r:id="rId5"/>
    <p:sldLayoutId id="2147483756" r:id="rId6"/>
    <p:sldLayoutId id="2147483760" r:id="rId7"/>
    <p:sldLayoutId id="2147483757" r:id="rId8"/>
    <p:sldLayoutId id="2147483761" r:id="rId9"/>
    <p:sldLayoutId id="2147483734" r:id="rId10"/>
    <p:sldLayoutId id="2147483725" r:id="rId11"/>
    <p:sldLayoutId id="2147483753" r:id="rId12"/>
    <p:sldLayoutId id="2147483732" r:id="rId13"/>
    <p:sldLayoutId id="2147483733" r:id="rId14"/>
    <p:sldLayoutId id="2147483751" r:id="rId15"/>
    <p:sldLayoutId id="2147483752" r:id="rId16"/>
    <p:sldLayoutId id="2147483750" r:id="rId17"/>
    <p:sldLayoutId id="2147483729" r:id="rId18"/>
    <p:sldLayoutId id="2147483728" r:id="rId19"/>
    <p:sldLayoutId id="2147483667" r:id="rId20"/>
    <p:sldLayoutId id="2147483668" r:id="rId21"/>
    <p:sldLayoutId id="2147483669" r:id="rId22"/>
    <p:sldLayoutId id="2147483670" r:id="rId23"/>
    <p:sldLayoutId id="2147483745" r:id="rId24"/>
  </p:sldLayoutIdLst>
  <p:transition>
    <p:fade/>
  </p:transition>
  <p:hf hdr="0" dt="0"/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rgbClr val="0A2D50"/>
          </a:solidFill>
          <a:latin typeface="+mj-lt"/>
          <a:ea typeface="+mj-ea"/>
          <a:cs typeface="Impact"/>
        </a:defRPr>
      </a:lvl1pPr>
    </p:titleStyle>
    <p:bodyStyle>
      <a:lvl1pPr marL="26987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Georgia"/>
        </a:defRPr>
      </a:lvl1pPr>
      <a:lvl2pPr marL="53975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Georgia"/>
        </a:defRPr>
      </a:lvl2pPr>
      <a:lvl3pPr marL="80962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Georgia"/>
        </a:defRPr>
      </a:lvl3pPr>
      <a:lvl4pPr marL="107950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Georgia"/>
        </a:defRPr>
      </a:lvl4pPr>
      <a:lvl5pPr marL="1341438" indent="-261938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Georgi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2.png"/><Relationship Id="rId5" Type="http://schemas.openxmlformats.org/officeDocument/2006/relationships/hyperlink" Target="https://www.synapse.org/Synapse:syn70783776/version/1" TargetMode="External"/><Relationship Id="rId4" Type="http://schemas.openxmlformats.org/officeDocument/2006/relationships/hyperlink" Target="https://github.com/labdeeman7/target_fusion_n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1254F-4B9F-8344-9A9C-7E33B7BF5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46" y="406915"/>
            <a:ext cx="5106272" cy="2918416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2">
                    <a:lumMod val="10000"/>
                    <a:lumOff val="90000"/>
                  </a:schemeClr>
                </a:solidFill>
                <a:latin typeface="+mj-lt"/>
              </a:rPr>
              <a:t>Grounding Surgical Action Triplets</a:t>
            </a:r>
            <a:br>
              <a:rPr lang="en-GB" dirty="0">
                <a:solidFill>
                  <a:schemeClr val="tx2">
                    <a:lumMod val="10000"/>
                    <a:lumOff val="90000"/>
                  </a:schemeClr>
                </a:solidFill>
                <a:latin typeface="+mj-lt"/>
              </a:rPr>
            </a:br>
            <a:r>
              <a:rPr lang="en-GB" dirty="0">
                <a:solidFill>
                  <a:schemeClr val="tx2">
                    <a:lumMod val="10000"/>
                    <a:lumOff val="90000"/>
                  </a:schemeClr>
                </a:solidFill>
                <a:latin typeface="+mj-lt"/>
              </a:rPr>
              <a:t>with Instrument Instance Segmentation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330328-7394-CE4A-99D5-D81030E52E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47" y="4597891"/>
            <a:ext cx="4299957" cy="581886"/>
          </a:xfrm>
        </p:spPr>
        <p:txBody>
          <a:bodyPr/>
          <a:lstStyle/>
          <a:p>
            <a:r>
              <a:rPr lang="en-US" dirty="0"/>
              <a:t>Extended presentation</a:t>
            </a:r>
          </a:p>
        </p:txBody>
      </p:sp>
      <p:pic>
        <p:nvPicPr>
          <p:cNvPr id="1026" name="Picture 2" descr="Home - EPSRC CDT in Smart Medical Imaging">
            <a:extLst>
              <a:ext uri="{FF2B5EF4-FFF2-40B4-BE49-F238E27FC236}">
                <a16:creationId xmlns:a16="http://schemas.microsoft.com/office/drawing/2014/main" id="{3A4B66F6-899F-241D-18E9-B86013B68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50" y="5715065"/>
            <a:ext cx="1945139" cy="93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ongji University - Wikipedia">
            <a:extLst>
              <a:ext uri="{FF2B5EF4-FFF2-40B4-BE49-F238E27FC236}">
                <a16:creationId xmlns:a16="http://schemas.microsoft.com/office/drawing/2014/main" id="{1E3EDB80-4A7F-4AA0-E54C-39CF40AFA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625" y="5665179"/>
            <a:ext cx="1039220" cy="1039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AE1667D-FA34-C5C6-3F1E-28E72D4E6308}"/>
              </a:ext>
            </a:extLst>
          </p:cNvPr>
          <p:cNvSpPr txBox="1">
            <a:spLocks/>
          </p:cNvSpPr>
          <p:nvPr/>
        </p:nvSpPr>
        <p:spPr>
          <a:xfrm>
            <a:off x="72188" y="2951018"/>
            <a:ext cx="5106272" cy="477982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2400" b="0" i="0" kern="1200">
                <a:solidFill>
                  <a:srgbClr val="FFFFFF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ctr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Georgia"/>
              </a:defRPr>
            </a:lvl2pPr>
            <a:lvl3pPr marL="914400" indent="0" algn="ctr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Georgia"/>
              </a:defRPr>
            </a:lvl3pPr>
            <a:lvl4pPr marL="1371600" indent="0" algn="ctr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Georgia"/>
              </a:defRPr>
            </a:lvl4pPr>
            <a:lvl5pPr marL="1828800" indent="0" algn="ctr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Georgia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A dataset and target-aware fusion approach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5332E03-4687-5999-7D21-CDEB2D63DC0D}"/>
              </a:ext>
            </a:extLst>
          </p:cNvPr>
          <p:cNvSpPr txBox="1">
            <a:spLocks/>
          </p:cNvSpPr>
          <p:nvPr/>
        </p:nvSpPr>
        <p:spPr>
          <a:xfrm>
            <a:off x="82946" y="3771660"/>
            <a:ext cx="4299957" cy="581886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77500" lnSpcReduction="20000"/>
          </a:bodyPr>
          <a:lstStyle>
            <a:lvl1pPr marL="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2400" b="0" i="0" kern="1200">
                <a:solidFill>
                  <a:srgbClr val="FFFFFF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ctr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Georgia"/>
              </a:defRPr>
            </a:lvl2pPr>
            <a:lvl3pPr marL="914400" indent="0" algn="ctr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Georgia"/>
              </a:defRPr>
            </a:lvl3pPr>
            <a:lvl4pPr marL="1371600" indent="0" algn="ctr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Georgia"/>
              </a:defRPr>
            </a:lvl4pPr>
            <a:lvl5pPr marL="1828800" indent="0" algn="ctr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Georgia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by Oluwatosin Alabi, Meng Wei, Charlie Budd, Tom Vercauteren, and </a:t>
            </a:r>
            <a:r>
              <a:rPr lang="en-GB" dirty="0" err="1"/>
              <a:t>Miaojing</a:t>
            </a:r>
            <a:r>
              <a:rPr lang="en-GB" dirty="0"/>
              <a:t> Shi</a:t>
            </a:r>
          </a:p>
        </p:txBody>
      </p:sp>
    </p:spTree>
    <p:extLst>
      <p:ext uri="{BB962C8B-B14F-4D97-AF65-F5344CB8AC3E}">
        <p14:creationId xmlns:p14="http://schemas.microsoft.com/office/powerpoint/2010/main" val="192990414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FAC7A-C8BD-8485-19B2-DEA25E93D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06DD15-E6D8-CBA8-59DD-F796D360C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visual grounding?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444457AA-78E0-E7D6-94E9-5A91581EE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69400" y="5254418"/>
            <a:ext cx="5454702" cy="1124897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marR="0" lvl="1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2D50"/>
              </a:buClr>
              <a:buSzTx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rPr>
              <a:t>Grounding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rPr>
              <a:t> -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rPr>
              <a:t>Ability to link abstract concepts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rPr>
              <a:t> like words, phrases, labels to physical regions or pixels in an Image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A2D50"/>
              </a:solidFill>
              <a:effectLst/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97764E-31B8-2B7B-4281-C1076DC9AA38}"/>
              </a:ext>
            </a:extLst>
          </p:cNvPr>
          <p:cNvSpPr txBox="1"/>
          <p:nvPr/>
        </p:nvSpPr>
        <p:spPr>
          <a:xfrm>
            <a:off x="934496" y="970095"/>
            <a:ext cx="3044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A man with reflective safety clothes and ear protection drives a John Deere tractor on a road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DDA8C0-0B5A-A4DD-4E15-9B123093CE00}"/>
              </a:ext>
            </a:extLst>
          </p:cNvPr>
          <p:cNvSpPr txBox="1"/>
          <p:nvPr/>
        </p:nvSpPr>
        <p:spPr>
          <a:xfrm>
            <a:off x="3067259" y="3055928"/>
            <a:ext cx="6134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90FB654-6C0A-D240-5B59-A519F646A8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931" y="672489"/>
            <a:ext cx="3105842" cy="2185516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1FF0E0-4F37-C316-43A3-B1CADABDA096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979146" y="1166579"/>
            <a:ext cx="3085527" cy="40368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26BE330-A229-C0B9-7F4D-10F541ED808A}"/>
              </a:ext>
            </a:extLst>
          </p:cNvPr>
          <p:cNvSpPr txBox="1"/>
          <p:nvPr/>
        </p:nvSpPr>
        <p:spPr>
          <a:xfrm>
            <a:off x="924448" y="3523137"/>
            <a:ext cx="3283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Energetic dog in a vibrant garden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6D6EE75-335B-4AF0-A873-067F2A054E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932" y="3002559"/>
            <a:ext cx="3105842" cy="2067193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5DBD517-B6BD-52F5-5432-F33BE3D64849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4208063" y="3707803"/>
            <a:ext cx="3030675" cy="2013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F11FA-2625-E7F7-C1DD-33621C315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Grounding Surgical Action Triplets with Instrument Instance Segmentation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B61F4-4CFC-CF34-3061-EDCBEBC4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D54F-FA85-F344-8424-FB00D2AE8D0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9599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6B4EA-48FC-700C-5934-D81CF937D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83289B-6EEA-E986-18E1-80334AEC4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→ TASK: Grounding triplets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408EE4-8BE9-F55C-ECED-570D5F943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873" y="1342507"/>
            <a:ext cx="3909798" cy="38446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EDA0D2-1CC0-8DA1-C699-232D43C86A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467" y="1342506"/>
            <a:ext cx="4047399" cy="384915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F964310-1733-366A-F171-59D7B9B53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Grounding Surgical Action Triplets with Instrument Instance Segmentation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81AF8-8E80-15F0-B8CE-99D5C69C9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D54F-FA85-F344-8424-FB00D2AE8D01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62D2B7-5C61-1F0F-BA83-7DE75A6A4E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5" y="1342506"/>
            <a:ext cx="4125145" cy="384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9360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44E81-5865-3B6B-77B6-0F7C15A9E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4D90C30-4869-CFEE-4AE3-C6902F4DF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37" y="180000"/>
            <a:ext cx="11977163" cy="720000"/>
          </a:xfrm>
        </p:spPr>
        <p:txBody>
          <a:bodyPr>
            <a:normAutofit fontScale="90000"/>
          </a:bodyPr>
          <a:lstStyle/>
          <a:p>
            <a:r>
              <a:rPr lang="en-GB" dirty="0"/>
              <a:t>TASK : </a:t>
            </a:r>
            <a:r>
              <a:rPr lang="en-US" dirty="0">
                <a:solidFill>
                  <a:srgbClr val="1F2530"/>
                </a:solidFill>
                <a:latin typeface="Aptos"/>
              </a:rPr>
              <a:t>We define triplet segmentation</a:t>
            </a:r>
            <a:br>
              <a:rPr lang="en-US" dirty="0">
                <a:solidFill>
                  <a:srgbClr val="1F2530"/>
                </a:solidFill>
                <a:latin typeface="Aptos"/>
              </a:rPr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E69374-E713-05EE-FC9D-738292FAA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9471" y="3878679"/>
            <a:ext cx="5454702" cy="1372234"/>
          </a:xfrm>
        </p:spPr>
        <p:txBody>
          <a:bodyPr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2D5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A2D50"/>
                </a:solidFill>
                <a:effectLst/>
                <a:uLnTx/>
                <a:uFillTx/>
                <a:latin typeface="Calibri" panose="020F0502020204030204"/>
                <a:ea typeface="+mn-ea"/>
              </a:rPr>
              <a:t>Prediction Target</a:t>
            </a:r>
          </a:p>
          <a:p>
            <a:pPr marL="342900" marR="0" lvl="1" indent="-3429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2D5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</a:rPr>
              <a:t>Predict every instrument instance mask and output a single triplet class (&lt;I,V,T&gt;) per instance mask .</a:t>
            </a:r>
          </a:p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2D50"/>
              </a:buClr>
              <a:buSzTx/>
              <a:buFont typeface="Arial"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A2D50"/>
              </a:solidFill>
              <a:effectLst/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10230C-D1B2-F451-E93C-9DD27435368E}"/>
              </a:ext>
            </a:extLst>
          </p:cNvPr>
          <p:cNvSpPr txBox="1"/>
          <p:nvPr/>
        </p:nvSpPr>
        <p:spPr>
          <a:xfrm>
            <a:off x="7801903" y="1502057"/>
            <a:ext cx="322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82AB48-1785-5905-99B2-163E61152C5D}"/>
              </a:ext>
            </a:extLst>
          </p:cNvPr>
          <p:cNvSpPr txBox="1"/>
          <p:nvPr/>
        </p:nvSpPr>
        <p:spPr>
          <a:xfrm>
            <a:off x="5978137" y="2559123"/>
            <a:ext cx="708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Mask</a:t>
            </a:r>
            <a:endParaRPr lang="en-GB" sz="1600" dirty="0">
              <a:solidFill>
                <a:srgbClr val="0070C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49DB52-7972-8016-E9A2-3BC0AE84F5D9}"/>
              </a:ext>
            </a:extLst>
          </p:cNvPr>
          <p:cNvSpPr txBox="1"/>
          <p:nvPr/>
        </p:nvSpPr>
        <p:spPr>
          <a:xfrm>
            <a:off x="8093156" y="1512347"/>
            <a:ext cx="13357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Hook-1</a:t>
            </a:r>
          </a:p>
          <a:p>
            <a:br>
              <a:rPr lang="en-US" sz="1600" dirty="0"/>
            </a:br>
            <a:r>
              <a:rPr lang="en-US" sz="1600" dirty="0">
                <a:solidFill>
                  <a:srgbClr val="0070C0"/>
                </a:solidFill>
              </a:rPr>
              <a:t>Class and Instrument Instance</a:t>
            </a:r>
            <a:endParaRPr lang="en-GB" sz="1600" dirty="0">
              <a:solidFill>
                <a:srgbClr val="0070C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3CC2B9-30A3-D9F6-CDFF-9291AEC069AC}"/>
              </a:ext>
            </a:extLst>
          </p:cNvPr>
          <p:cNvSpPr txBox="1"/>
          <p:nvPr/>
        </p:nvSpPr>
        <p:spPr>
          <a:xfrm>
            <a:off x="9509863" y="1542842"/>
            <a:ext cx="8392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Dissect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70C0"/>
                </a:solidFill>
              </a:rPr>
              <a:t>Verb</a:t>
            </a:r>
            <a:endParaRPr lang="en-GB" sz="1600" dirty="0">
              <a:solidFill>
                <a:srgbClr val="0070C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CC9674-4987-5EB8-308A-24031800104E}"/>
              </a:ext>
            </a:extLst>
          </p:cNvPr>
          <p:cNvSpPr txBox="1"/>
          <p:nvPr/>
        </p:nvSpPr>
        <p:spPr>
          <a:xfrm>
            <a:off x="10572905" y="1533877"/>
            <a:ext cx="1171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Gallbladder</a:t>
            </a:r>
          </a:p>
          <a:p>
            <a:endParaRPr lang="en-US" sz="1600" dirty="0"/>
          </a:p>
          <a:p>
            <a:r>
              <a:rPr lang="en-GB" sz="1600" dirty="0">
                <a:solidFill>
                  <a:srgbClr val="0070C0"/>
                </a:solidFill>
              </a:rPr>
              <a:t>Target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D95FA7-8B7E-A51E-A5EF-298D80DB0DF5}"/>
              </a:ext>
            </a:extLst>
          </p:cNvPr>
          <p:cNvSpPr txBox="1"/>
          <p:nvPr/>
        </p:nvSpPr>
        <p:spPr>
          <a:xfrm>
            <a:off x="7713205" y="3110562"/>
            <a:ext cx="1709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Grounded triplets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EC3512-1144-0771-4A7F-422424EA00F7}"/>
              </a:ext>
            </a:extLst>
          </p:cNvPr>
          <p:cNvSpPr txBox="1"/>
          <p:nvPr/>
        </p:nvSpPr>
        <p:spPr>
          <a:xfrm>
            <a:off x="9187404" y="1511479"/>
            <a:ext cx="322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ADD3EC-EB1F-F351-AA2C-140F8EC024B7}"/>
              </a:ext>
            </a:extLst>
          </p:cNvPr>
          <p:cNvSpPr txBox="1"/>
          <p:nvPr/>
        </p:nvSpPr>
        <p:spPr>
          <a:xfrm>
            <a:off x="10268373" y="1502057"/>
            <a:ext cx="322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8AD916-80D5-DC5A-2456-FAFBD3B02637}"/>
              </a:ext>
            </a:extLst>
          </p:cNvPr>
          <p:cNvSpPr txBox="1"/>
          <p:nvPr/>
        </p:nvSpPr>
        <p:spPr>
          <a:xfrm>
            <a:off x="901992" y="2576793"/>
            <a:ext cx="12050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Input Image</a:t>
            </a:r>
            <a:endParaRPr lang="en-GB" sz="1600" dirty="0">
              <a:solidFill>
                <a:srgbClr val="0070C0"/>
              </a:solidFill>
            </a:endParaRPr>
          </a:p>
        </p:txBody>
      </p:sp>
      <p:sp>
        <p:nvSpPr>
          <p:cNvPr id="7" name="Flowchart: Manual Operation 6">
            <a:extLst>
              <a:ext uri="{FF2B5EF4-FFF2-40B4-BE49-F238E27FC236}">
                <a16:creationId xmlns:a16="http://schemas.microsoft.com/office/drawing/2014/main" id="{D7289F36-26CD-E864-997F-45878659E44C}"/>
              </a:ext>
            </a:extLst>
          </p:cNvPr>
          <p:cNvSpPr/>
          <p:nvPr/>
        </p:nvSpPr>
        <p:spPr>
          <a:xfrm rot="16200000">
            <a:off x="2966348" y="1214196"/>
            <a:ext cx="1693034" cy="1205044"/>
          </a:xfrm>
          <a:prstGeom prst="flowChartManualOperation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625D8A-CEAC-01E3-180A-3B7C4BF6B0CE}"/>
              </a:ext>
            </a:extLst>
          </p:cNvPr>
          <p:cNvSpPr txBox="1"/>
          <p:nvPr/>
        </p:nvSpPr>
        <p:spPr>
          <a:xfrm>
            <a:off x="3419894" y="1567791"/>
            <a:ext cx="90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10000"/>
                    <a:lumOff val="90000"/>
                  </a:schemeClr>
                </a:solidFill>
              </a:rPr>
              <a:t>Model</a:t>
            </a:r>
            <a:endParaRPr lang="en-GB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A3520BA-62F6-E919-D099-EC0425AF906F}"/>
              </a:ext>
            </a:extLst>
          </p:cNvPr>
          <p:cNvCxnSpPr>
            <a:cxnSpLocks/>
          </p:cNvCxnSpPr>
          <p:nvPr/>
        </p:nvCxnSpPr>
        <p:spPr>
          <a:xfrm>
            <a:off x="4388127" y="1804626"/>
            <a:ext cx="785374" cy="0"/>
          </a:xfrm>
          <a:prstGeom prst="straightConnector1">
            <a:avLst/>
          </a:prstGeom>
          <a:ln w="571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91A101E-3464-5A71-8B57-61EF94E20D1B}"/>
              </a:ext>
            </a:extLst>
          </p:cNvPr>
          <p:cNvCxnSpPr>
            <a:cxnSpLocks/>
            <a:stCxn id="20" idx="3"/>
            <a:endCxn id="7" idx="0"/>
          </p:cNvCxnSpPr>
          <p:nvPr/>
        </p:nvCxnSpPr>
        <p:spPr>
          <a:xfrm>
            <a:off x="2644086" y="1814292"/>
            <a:ext cx="566257" cy="2426"/>
          </a:xfrm>
          <a:prstGeom prst="straightConnector1">
            <a:avLst/>
          </a:prstGeom>
          <a:ln w="5715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ight Brace 15">
            <a:extLst>
              <a:ext uri="{FF2B5EF4-FFF2-40B4-BE49-F238E27FC236}">
                <a16:creationId xmlns:a16="http://schemas.microsoft.com/office/drawing/2014/main" id="{59ADCFCA-6EC4-4CE0-3B20-4E5D4AB3F7A4}"/>
              </a:ext>
            </a:extLst>
          </p:cNvPr>
          <p:cNvSpPr/>
          <p:nvPr/>
        </p:nvSpPr>
        <p:spPr>
          <a:xfrm rot="5400000">
            <a:off x="8251511" y="-355557"/>
            <a:ext cx="369330" cy="6583485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8D09D4C-5473-11B0-9E7D-F74CB1E18770}"/>
              </a:ext>
            </a:extLst>
          </p:cNvPr>
          <p:cNvSpPr txBox="1">
            <a:spLocks/>
          </p:cNvSpPr>
          <p:nvPr/>
        </p:nvSpPr>
        <p:spPr>
          <a:xfrm>
            <a:off x="6096000" y="3900582"/>
            <a:ext cx="6008483" cy="13722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45720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2pPr>
            <a:lvl3pPr marL="91440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3pPr>
            <a:lvl4pPr marL="137160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4pPr>
            <a:lvl5pPr marL="182880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b="1" dirty="0">
                <a:solidFill>
                  <a:srgbClr val="0A2D50"/>
                </a:solidFill>
                <a:latin typeface="Calibri" panose="020F0502020204030204"/>
              </a:rPr>
              <a:t>Evaluation</a:t>
            </a:r>
          </a:p>
          <a:p>
            <a:pPr marL="342900" lvl="1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Recognition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/>
              </a:rPr>
              <a:t>mAP</a:t>
            </a: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: frame-level triplet presence.</a:t>
            </a:r>
            <a:r>
              <a:rPr lang="en-US" sz="2000" i="1" dirty="0">
                <a:solidFill>
                  <a:prstClr val="black"/>
                </a:solidFill>
                <a:latin typeface="Calibri" panose="020F0502020204030204"/>
              </a:rPr>
              <a:t>[1]</a:t>
            </a:r>
          </a:p>
          <a:p>
            <a:pPr marL="342900" lvl="1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Detection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/>
              </a:rPr>
              <a:t>mAP</a:t>
            </a: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: triplet linked to a bounding box. </a:t>
            </a:r>
            <a:r>
              <a:rPr lang="en-US" sz="2000" i="1" dirty="0">
                <a:solidFill>
                  <a:prstClr val="black"/>
                </a:solidFill>
                <a:latin typeface="Calibri" panose="020F0502020204030204"/>
              </a:rPr>
              <a:t>[2]</a:t>
            </a:r>
          </a:p>
          <a:p>
            <a:pPr marL="342900" lvl="1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Segmentation </a:t>
            </a:r>
            <a:r>
              <a:rPr lang="en-US" sz="2000" dirty="0" err="1">
                <a:solidFill>
                  <a:prstClr val="black"/>
                </a:solidFill>
                <a:latin typeface="Calibri" panose="020F0502020204030204"/>
              </a:rPr>
              <a:t>mAP</a:t>
            </a: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: triplet linked to an instance mask.</a:t>
            </a:r>
            <a:endParaRPr lang="en-US" sz="2000" u="sng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7C0844-F69A-ECDF-8C66-C18DEF77B44F}"/>
              </a:ext>
            </a:extLst>
          </p:cNvPr>
          <p:cNvSpPr txBox="1"/>
          <p:nvPr/>
        </p:nvSpPr>
        <p:spPr>
          <a:xfrm>
            <a:off x="597694" y="5915929"/>
            <a:ext cx="1104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200" dirty="0"/>
              <a:t>Nwoye, C. I et al. </a:t>
            </a:r>
            <a:r>
              <a:rPr lang="en-GB" sz="1200" i="1" dirty="0"/>
              <a:t>CholecTriplet2021: A benchmark challenge for surgical action triplet recognition </a:t>
            </a:r>
            <a:r>
              <a:rPr lang="en-GB" sz="1200" dirty="0"/>
              <a:t>MEDIA 2023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200" dirty="0"/>
              <a:t>Nwoye, C. I et al. </a:t>
            </a:r>
            <a:r>
              <a:rPr lang="en-GB" sz="1200" i="1" dirty="0"/>
              <a:t>CholecTriplet2022: Show me a tool and tell me the triplet—An endoscopic vision challenge for surgical action triplet detection</a:t>
            </a:r>
            <a:r>
              <a:rPr lang="en-GB" sz="1200" dirty="0"/>
              <a:t>. MEDIA 2023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440D570-C732-401D-C91F-9DB7ED7C9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103" y="1068142"/>
            <a:ext cx="2429249" cy="143924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E937AEE-08AA-94E7-B4B3-90F8771AC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37" y="1031992"/>
            <a:ext cx="2429249" cy="15646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A0CF35-828A-52B6-3436-EBEECD1EF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Grounding Surgical Action Triplets with Instrument Instance Segmentation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714AC7-4365-5944-C945-C92803C94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D54F-FA85-F344-8424-FB00D2AE8D0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3676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26" grpId="0"/>
      <p:bldP spid="29" grpId="0"/>
      <p:bldP spid="30" grpId="0"/>
      <p:bldP spid="33" grpId="0"/>
      <p:bldP spid="34" grpId="0"/>
      <p:bldP spid="35" grpId="0"/>
      <p:bldP spid="36" grpId="0"/>
      <p:bldP spid="38" grpId="0"/>
      <p:bldP spid="7" grpId="0" animBg="1"/>
      <p:bldP spid="8" grpId="0"/>
      <p:bldP spid="16" grpId="0" animBg="1"/>
      <p:bldP spid="23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1C107-18E7-E99B-A0FD-F7B7C6E73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4B473B-43C2-096A-428C-F83F622AD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1F2530"/>
                </a:solidFill>
                <a:latin typeface="Aptos"/>
              </a:rPr>
              <a:t>DATASET: CholecTriplet-Seg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AE896E-E103-EAB3-DA95-A52B10354D57}"/>
              </a:ext>
            </a:extLst>
          </p:cNvPr>
          <p:cNvSpPr/>
          <p:nvPr/>
        </p:nvSpPr>
        <p:spPr>
          <a:xfrm>
            <a:off x="125730" y="948690"/>
            <a:ext cx="2343150" cy="1143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F06B9-2C32-0A5B-3E83-A0F67A21DED8}"/>
              </a:ext>
            </a:extLst>
          </p:cNvPr>
          <p:cNvSpPr txBox="1"/>
          <p:nvPr/>
        </p:nvSpPr>
        <p:spPr>
          <a:xfrm>
            <a:off x="636271" y="1195261"/>
            <a:ext cx="1262205" cy="52937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600" b="1" dirty="0">
                <a:solidFill>
                  <a:srgbClr val="1F2530"/>
                </a:solidFill>
              </a:rPr>
              <a:t>CholecT50</a:t>
            </a:r>
            <a:r>
              <a:rPr lang="en-US" sz="1600" dirty="0">
                <a:solidFill>
                  <a:srgbClr val="1F2530"/>
                </a:solidFill>
              </a:rPr>
              <a:t>[1]</a:t>
            </a:r>
            <a:r>
              <a:rPr sz="1600" b="1" dirty="0">
                <a:solidFill>
                  <a:srgbClr val="1F2530"/>
                </a:solidFill>
              </a:rPr>
              <a:t>
</a:t>
            </a:r>
            <a:r>
              <a:rPr lang="en-US" sz="1600" b="1" dirty="0">
                <a:solidFill>
                  <a:srgbClr val="1F2530"/>
                </a:solidFill>
              </a:rPr>
              <a:t>F</a:t>
            </a:r>
            <a:r>
              <a:rPr sz="1600" b="1" dirty="0">
                <a:solidFill>
                  <a:srgbClr val="1F2530"/>
                </a:solidFill>
              </a:rPr>
              <a:t>rame triplets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0B0175-5F58-7037-DDC1-23408A2E3CD6}"/>
              </a:ext>
            </a:extLst>
          </p:cNvPr>
          <p:cNvSpPr txBox="1"/>
          <p:nvPr/>
        </p:nvSpPr>
        <p:spPr>
          <a:xfrm>
            <a:off x="2564987" y="1383030"/>
            <a:ext cx="210121" cy="34471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lang="en-US" sz="2000" b="1" dirty="0">
                <a:solidFill>
                  <a:srgbClr val="596373"/>
                </a:solidFill>
                <a:latin typeface="Aptos"/>
              </a:rPr>
              <a:t>+</a:t>
            </a:r>
            <a:endParaRPr sz="2000" b="1" dirty="0">
              <a:solidFill>
                <a:srgbClr val="596373"/>
              </a:solidFill>
              <a:latin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946E14-5505-054A-3E26-6BFAEB0F7207}"/>
              </a:ext>
            </a:extLst>
          </p:cNvPr>
          <p:cNvSpPr/>
          <p:nvPr/>
        </p:nvSpPr>
        <p:spPr>
          <a:xfrm>
            <a:off x="2880360" y="948690"/>
            <a:ext cx="2343150" cy="1143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1BAC61-03CA-2DAE-5A31-264296640E29}"/>
              </a:ext>
            </a:extLst>
          </p:cNvPr>
          <p:cNvSpPr txBox="1"/>
          <p:nvPr/>
        </p:nvSpPr>
        <p:spPr>
          <a:xfrm>
            <a:off x="3105041" y="1229068"/>
            <a:ext cx="1893788" cy="52937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600" b="1" dirty="0">
                <a:solidFill>
                  <a:srgbClr val="1F2530"/>
                </a:solidFill>
              </a:rPr>
              <a:t>CholecInstanceSeg</a:t>
            </a:r>
            <a:r>
              <a:rPr lang="en-US" sz="1600" dirty="0">
                <a:solidFill>
                  <a:srgbClr val="1F2530"/>
                </a:solidFill>
              </a:rPr>
              <a:t>[2]</a:t>
            </a:r>
            <a:r>
              <a:rPr sz="1600" b="1" dirty="0">
                <a:solidFill>
                  <a:srgbClr val="1F2530"/>
                </a:solidFill>
              </a:rPr>
              <a:t>
instrument masks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DBF09A-7B07-09C3-F808-B2F25BFE28EB}"/>
              </a:ext>
            </a:extLst>
          </p:cNvPr>
          <p:cNvSpPr txBox="1"/>
          <p:nvPr/>
        </p:nvSpPr>
        <p:spPr>
          <a:xfrm>
            <a:off x="5319617" y="1383030"/>
            <a:ext cx="210121" cy="34471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lang="en-US" sz="2000" b="1" dirty="0">
                <a:solidFill>
                  <a:srgbClr val="596373"/>
                </a:solidFill>
                <a:latin typeface="Aptos"/>
              </a:rPr>
              <a:t>+</a:t>
            </a:r>
            <a:endParaRPr sz="2000" b="1" dirty="0">
              <a:solidFill>
                <a:srgbClr val="596373"/>
              </a:solidFill>
              <a:latin typeface="Apto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570FBC-50B3-4C4C-70DB-1FD8486A6F00}"/>
              </a:ext>
            </a:extLst>
          </p:cNvPr>
          <p:cNvSpPr/>
          <p:nvPr/>
        </p:nvSpPr>
        <p:spPr>
          <a:xfrm>
            <a:off x="5634990" y="948690"/>
            <a:ext cx="2343150" cy="1143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000203-62EC-8341-1AE4-FAE57899E6B0}"/>
              </a:ext>
            </a:extLst>
          </p:cNvPr>
          <p:cNvSpPr txBox="1"/>
          <p:nvPr/>
        </p:nvSpPr>
        <p:spPr>
          <a:xfrm>
            <a:off x="5963641" y="1229068"/>
            <a:ext cx="1685847" cy="52937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600" b="1" dirty="0">
                <a:solidFill>
                  <a:srgbClr val="1F2530"/>
                </a:solidFill>
              </a:rPr>
              <a:t>Manual alignment
and quality control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F9144C-992B-0812-0262-A7E7C96B58F3}"/>
              </a:ext>
            </a:extLst>
          </p:cNvPr>
          <p:cNvSpPr txBox="1"/>
          <p:nvPr/>
        </p:nvSpPr>
        <p:spPr>
          <a:xfrm>
            <a:off x="8051292" y="1383030"/>
            <a:ext cx="256032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2000" b="1">
                <a:solidFill>
                  <a:srgbClr val="596373"/>
                </a:solidFill>
                <a:latin typeface="Aptos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AA1B77-FB84-E725-1111-C6C92F6BC07B}"/>
              </a:ext>
            </a:extLst>
          </p:cNvPr>
          <p:cNvSpPr/>
          <p:nvPr/>
        </p:nvSpPr>
        <p:spPr>
          <a:xfrm>
            <a:off x="8389620" y="948690"/>
            <a:ext cx="2343150" cy="1143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DE30BD-6939-1370-000B-A0BC16D60EF7}"/>
              </a:ext>
            </a:extLst>
          </p:cNvPr>
          <p:cNvSpPr txBox="1"/>
          <p:nvPr/>
        </p:nvSpPr>
        <p:spPr>
          <a:xfrm>
            <a:off x="8815946" y="1255502"/>
            <a:ext cx="1552733" cy="52937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600" b="1" dirty="0">
                <a:solidFill>
                  <a:srgbClr val="18897E"/>
                </a:solidFill>
              </a:rPr>
              <a:t>CholecTriplet-Seg
grounded triplets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DA2BE4-5DF0-BCA5-CF51-17EF308F4806}"/>
              </a:ext>
            </a:extLst>
          </p:cNvPr>
          <p:cNvSpPr/>
          <p:nvPr/>
        </p:nvSpPr>
        <p:spPr>
          <a:xfrm>
            <a:off x="154017" y="2353451"/>
            <a:ext cx="2057400" cy="777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9E0A78-D899-130D-5B27-E2030E054C0D}"/>
              </a:ext>
            </a:extLst>
          </p:cNvPr>
          <p:cNvSpPr txBox="1"/>
          <p:nvPr/>
        </p:nvSpPr>
        <p:spPr>
          <a:xfrm>
            <a:off x="263745" y="2435747"/>
            <a:ext cx="1837943" cy="31089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2000" b="1" dirty="0">
                <a:solidFill>
                  <a:srgbClr val="2B6BA6"/>
                </a:solidFill>
                <a:latin typeface="Aptos"/>
              </a:rPr>
              <a:t>30,955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DA6816-4C20-CC21-4141-CCCD24A4F679}"/>
              </a:ext>
            </a:extLst>
          </p:cNvPr>
          <p:cNvSpPr txBox="1"/>
          <p:nvPr/>
        </p:nvSpPr>
        <p:spPr>
          <a:xfrm>
            <a:off x="458352" y="2783219"/>
            <a:ext cx="1448730" cy="252377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596373"/>
                </a:solidFill>
                <a:latin typeface="Aptos"/>
              </a:rPr>
              <a:t>annotated frames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763E82-28ED-A1C4-3D6A-6453E8BF477E}"/>
              </a:ext>
            </a:extLst>
          </p:cNvPr>
          <p:cNvSpPr/>
          <p:nvPr/>
        </p:nvSpPr>
        <p:spPr>
          <a:xfrm>
            <a:off x="2531457" y="2353451"/>
            <a:ext cx="2057400" cy="777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D93BBC-DC1B-5DAA-A0F6-110A12BD9543}"/>
              </a:ext>
            </a:extLst>
          </p:cNvPr>
          <p:cNvSpPr txBox="1"/>
          <p:nvPr/>
        </p:nvSpPr>
        <p:spPr>
          <a:xfrm>
            <a:off x="2641185" y="2435747"/>
            <a:ext cx="1837943" cy="31089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2000" b="1" dirty="0">
                <a:solidFill>
                  <a:srgbClr val="18897E"/>
                </a:solidFill>
                <a:latin typeface="Aptos"/>
              </a:rPr>
              <a:t>49,866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44B6B1-3237-10FC-A439-EF3DD4115F0A}"/>
              </a:ext>
            </a:extLst>
          </p:cNvPr>
          <p:cNvSpPr txBox="1"/>
          <p:nvPr/>
        </p:nvSpPr>
        <p:spPr>
          <a:xfrm>
            <a:off x="2861953" y="2783219"/>
            <a:ext cx="1396408" cy="252377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596373"/>
                </a:solidFill>
                <a:latin typeface="Aptos"/>
              </a:rPr>
              <a:t>grounded triplets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E68D11-FAED-AED3-379D-AFDE6D35297E}"/>
              </a:ext>
            </a:extLst>
          </p:cNvPr>
          <p:cNvSpPr/>
          <p:nvPr/>
        </p:nvSpPr>
        <p:spPr>
          <a:xfrm>
            <a:off x="4908897" y="2353451"/>
            <a:ext cx="2057400" cy="777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8E0B5A-B2CB-BB93-0671-1B45BE9767D1}"/>
              </a:ext>
            </a:extLst>
          </p:cNvPr>
          <p:cNvSpPr txBox="1"/>
          <p:nvPr/>
        </p:nvSpPr>
        <p:spPr>
          <a:xfrm>
            <a:off x="5018625" y="2435747"/>
            <a:ext cx="1837943" cy="31089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2000" b="1" dirty="0">
                <a:solidFill>
                  <a:srgbClr val="D57E37"/>
                </a:solidFill>
                <a:latin typeface="Aptos"/>
              </a:rPr>
              <a:t>50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39F09D-DDF3-9C44-15D0-00B013D2060E}"/>
              </a:ext>
            </a:extLst>
          </p:cNvPr>
          <p:cNvSpPr txBox="1"/>
          <p:nvPr/>
        </p:nvSpPr>
        <p:spPr>
          <a:xfrm>
            <a:off x="4963099" y="2783219"/>
            <a:ext cx="1948996" cy="252377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596373"/>
                </a:solidFill>
                <a:latin typeface="Aptos"/>
              </a:rPr>
              <a:t>cholecystectomy videos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ED06E1-18D4-9CBE-AE4C-32F7AD856521}"/>
              </a:ext>
            </a:extLst>
          </p:cNvPr>
          <p:cNvSpPr/>
          <p:nvPr/>
        </p:nvSpPr>
        <p:spPr>
          <a:xfrm>
            <a:off x="7286337" y="2353451"/>
            <a:ext cx="2057400" cy="777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111691-94C2-9B9E-947E-3788BF338F00}"/>
              </a:ext>
            </a:extLst>
          </p:cNvPr>
          <p:cNvSpPr txBox="1"/>
          <p:nvPr/>
        </p:nvSpPr>
        <p:spPr>
          <a:xfrm>
            <a:off x="8141847" y="2435747"/>
            <a:ext cx="346377" cy="34471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2000" b="1" dirty="0">
                <a:solidFill>
                  <a:srgbClr val="4E894C"/>
                </a:solidFill>
                <a:latin typeface="Aptos"/>
              </a:rPr>
              <a:t>93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13BE95-AC13-9A47-3016-224A4795969F}"/>
              </a:ext>
            </a:extLst>
          </p:cNvPr>
          <p:cNvSpPr txBox="1"/>
          <p:nvPr/>
        </p:nvSpPr>
        <p:spPr>
          <a:xfrm>
            <a:off x="7424697" y="2783219"/>
            <a:ext cx="1780679" cy="252377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596373"/>
                </a:solidFill>
                <a:latin typeface="Aptos"/>
              </a:rPr>
              <a:t>observed valid triplets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4CC1FC-6345-6703-77FF-EE6BF7690747}"/>
              </a:ext>
            </a:extLst>
          </p:cNvPr>
          <p:cNvSpPr/>
          <p:nvPr/>
        </p:nvSpPr>
        <p:spPr>
          <a:xfrm>
            <a:off x="164687" y="3255817"/>
            <a:ext cx="2057400" cy="777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7D22E0-EBE9-E9DD-2F91-9D82384DC085}"/>
              </a:ext>
            </a:extLst>
          </p:cNvPr>
          <p:cNvSpPr txBox="1"/>
          <p:nvPr/>
        </p:nvSpPr>
        <p:spPr>
          <a:xfrm>
            <a:off x="1088324" y="3338113"/>
            <a:ext cx="210122" cy="34471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lang="en-US" sz="2000" b="1" dirty="0">
                <a:solidFill>
                  <a:srgbClr val="4E894C"/>
                </a:solidFill>
                <a:latin typeface="Aptos"/>
              </a:rPr>
              <a:t>6</a:t>
            </a:r>
            <a:endParaRPr sz="2000" b="1" dirty="0">
              <a:solidFill>
                <a:srgbClr val="4E894C"/>
              </a:solidFill>
              <a:latin typeface="Apto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14B9FD-5E72-E05F-395C-7E137EE9EEBD}"/>
              </a:ext>
            </a:extLst>
          </p:cNvPr>
          <p:cNvSpPr txBox="1"/>
          <p:nvPr/>
        </p:nvSpPr>
        <p:spPr>
          <a:xfrm>
            <a:off x="686038" y="3685585"/>
            <a:ext cx="1014701" cy="252377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lang="en-US" sz="1400" b="0" dirty="0">
                <a:solidFill>
                  <a:srgbClr val="596373"/>
                </a:solidFill>
                <a:latin typeface="Aptos"/>
              </a:rPr>
              <a:t>instruments</a:t>
            </a:r>
            <a:endParaRPr sz="1400" b="0" dirty="0">
              <a:solidFill>
                <a:srgbClr val="596373"/>
              </a:solidFill>
              <a:latin typeface="Apto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91EB9D-49AB-4081-333D-6FEAFB89EDD8}"/>
              </a:ext>
            </a:extLst>
          </p:cNvPr>
          <p:cNvSpPr/>
          <p:nvPr/>
        </p:nvSpPr>
        <p:spPr>
          <a:xfrm>
            <a:off x="2520027" y="3277911"/>
            <a:ext cx="2057400" cy="777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AA2015-DF86-D168-378B-448FB9A07492}"/>
              </a:ext>
            </a:extLst>
          </p:cNvPr>
          <p:cNvSpPr txBox="1"/>
          <p:nvPr/>
        </p:nvSpPr>
        <p:spPr>
          <a:xfrm>
            <a:off x="3375536" y="3360207"/>
            <a:ext cx="346377" cy="34471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lang="en-US" sz="2000" b="1" dirty="0">
                <a:solidFill>
                  <a:srgbClr val="4E894C"/>
                </a:solidFill>
                <a:latin typeface="Aptos"/>
              </a:rPr>
              <a:t>10</a:t>
            </a:r>
            <a:endParaRPr sz="2000" b="1" dirty="0">
              <a:solidFill>
                <a:srgbClr val="4E894C"/>
              </a:solidFill>
              <a:latin typeface="Apto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BBDAA6-E5FF-5AA8-EC17-8FB2B48E1ACC}"/>
              </a:ext>
            </a:extLst>
          </p:cNvPr>
          <p:cNvSpPr txBox="1"/>
          <p:nvPr/>
        </p:nvSpPr>
        <p:spPr>
          <a:xfrm>
            <a:off x="3301066" y="3707679"/>
            <a:ext cx="495327" cy="252377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lang="en-US" sz="1400" b="0" dirty="0">
                <a:solidFill>
                  <a:srgbClr val="596373"/>
                </a:solidFill>
                <a:latin typeface="Aptos"/>
              </a:rPr>
              <a:t>verbs</a:t>
            </a:r>
            <a:endParaRPr sz="1400" b="0" dirty="0">
              <a:solidFill>
                <a:srgbClr val="596373"/>
              </a:solidFill>
              <a:latin typeface="Apto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5892D64-774C-1E21-3C83-EFD276634051}"/>
              </a:ext>
            </a:extLst>
          </p:cNvPr>
          <p:cNvSpPr/>
          <p:nvPr/>
        </p:nvSpPr>
        <p:spPr>
          <a:xfrm>
            <a:off x="4925540" y="3271506"/>
            <a:ext cx="2057400" cy="7772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D2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ACB133-87CA-7D8B-C54B-A5A1AFBD26F4}"/>
              </a:ext>
            </a:extLst>
          </p:cNvPr>
          <p:cNvSpPr txBox="1"/>
          <p:nvPr/>
        </p:nvSpPr>
        <p:spPr>
          <a:xfrm>
            <a:off x="5781050" y="3353802"/>
            <a:ext cx="346377" cy="34471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lang="en-US" sz="2000" b="1" dirty="0">
                <a:solidFill>
                  <a:srgbClr val="4E894C"/>
                </a:solidFill>
                <a:latin typeface="Aptos"/>
              </a:rPr>
              <a:t>15</a:t>
            </a:r>
            <a:endParaRPr sz="2000" b="1" dirty="0">
              <a:solidFill>
                <a:srgbClr val="4E894C"/>
              </a:solidFill>
              <a:latin typeface="Apto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01D109-6564-6A4D-EC90-A35FCF3122F3}"/>
              </a:ext>
            </a:extLst>
          </p:cNvPr>
          <p:cNvSpPr txBox="1"/>
          <p:nvPr/>
        </p:nvSpPr>
        <p:spPr>
          <a:xfrm>
            <a:off x="5650954" y="3701274"/>
            <a:ext cx="606577" cy="252377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lang="en-US" sz="1400" b="0" dirty="0">
                <a:solidFill>
                  <a:srgbClr val="596373"/>
                </a:solidFill>
                <a:latin typeface="Aptos"/>
              </a:rPr>
              <a:t>targets</a:t>
            </a:r>
            <a:endParaRPr sz="1400" b="0" dirty="0">
              <a:solidFill>
                <a:srgbClr val="596373"/>
              </a:solidFill>
              <a:latin typeface="Aptos"/>
            </a:endParaRP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8A0EB42-8907-BD9B-1AF4-75B717FE0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1459" y="5876279"/>
            <a:ext cx="11510866" cy="54872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GB" dirty="0"/>
              <a:t>Nwoye, C. I et al. Rendezvous: Attention mechanisms for the recognition of surgical action triplets in endoscopic videos. MEDIA 2022.</a:t>
            </a:r>
          </a:p>
          <a:p>
            <a:pPr marL="342900" indent="-342900">
              <a:buAutoNum type="arabicPeriod"/>
            </a:pPr>
            <a:r>
              <a:rPr lang="en-GB" dirty="0"/>
              <a:t>Alabi, O., et al. </a:t>
            </a:r>
            <a:r>
              <a:rPr lang="en-GB" dirty="0" err="1"/>
              <a:t>Cholecinstanceseg</a:t>
            </a:r>
            <a:r>
              <a:rPr lang="en-GB" dirty="0"/>
              <a:t>: A tool instance segmentation dataset for laparoscopic surgery. Scientific Data, 2025.</a:t>
            </a:r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</p:txBody>
      </p:sp>
      <p:pic>
        <p:nvPicPr>
          <p:cNvPr id="6" name="vlc-record-2026-06-21-20h10m13s-gt_video.mp4-">
            <a:hlinkClick r:id="" action="ppaction://media"/>
            <a:extLst>
              <a:ext uri="{FF2B5EF4-FFF2-40B4-BE49-F238E27FC236}">
                <a16:creationId xmlns:a16="http://schemas.microsoft.com/office/drawing/2014/main" id="{7AF57F1C-11AC-A670-E91A-7A6A7CE508A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26945" y="3305366"/>
            <a:ext cx="4468499" cy="2482619"/>
          </a:xfrm>
          <a:prstGeom prst="rect">
            <a:avLst/>
          </a:prstGeom>
        </p:spPr>
      </p:pic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D2EC659B-EBC4-2FE5-F1E6-DE342D99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Grounding Surgical Action Triplets with Instrument Instance Segmentation</a:t>
            </a:r>
            <a:endParaRPr lang="en-US" dirty="0"/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B6804C00-8831-F5A4-1BAE-8EA46D6C7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D54F-FA85-F344-8424-FB00D2AE8D0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102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  <p:bldLst>
      <p:bldP spid="15" grpId="0" animBg="1"/>
      <p:bldP spid="16" grpId="0"/>
      <p:bldP spid="17" grpId="0"/>
      <p:bldP spid="18" grpId="0" animBg="1"/>
      <p:bldP spid="19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0" grpId="0" animBg="1"/>
      <p:bldP spid="28" grpId="0"/>
      <p:bldP spid="29" grpId="0"/>
      <p:bldP spid="30" grpId="0" animBg="1"/>
      <p:bldP spid="31" grpId="0"/>
      <p:bldP spid="32" grpId="0"/>
      <p:bldP spid="33" grpId="0" animBg="1"/>
      <p:bldP spid="34" grpId="0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A92A1-5D20-1CD7-AF60-C20F782BE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59FF5E5-E0CE-BE01-70C5-4558871C00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554" y="665601"/>
            <a:ext cx="4774606" cy="54309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9C76CE-0546-3624-7085-2C64D7B82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BOTTLENECK: </a:t>
            </a:r>
            <a:r>
              <a:rPr lang="en-US" dirty="0">
                <a:solidFill>
                  <a:srgbClr val="1F2530"/>
                </a:solidFill>
                <a:latin typeface="Aptos"/>
              </a:rPr>
              <a:t>The hard part is the target</a:t>
            </a:r>
            <a:endParaRPr lang="en-US" dirty="0"/>
          </a:p>
        </p:txBody>
      </p:sp>
      <p:pic>
        <p:nvPicPr>
          <p:cNvPr id="6" name="Picture 5" descr="endovit_examples.png">
            <a:extLst>
              <a:ext uri="{FF2B5EF4-FFF2-40B4-BE49-F238E27FC236}">
                <a16:creationId xmlns:a16="http://schemas.microsoft.com/office/drawing/2014/main" id="{0F5A53C4-6408-FFCA-2C8B-025860A9A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616" y="665601"/>
            <a:ext cx="4701510" cy="54309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B9B8263-93EF-1E00-43B3-2BB7955F01C6}"/>
              </a:ext>
            </a:extLst>
          </p:cNvPr>
          <p:cNvSpPr txBox="1"/>
          <p:nvPr/>
        </p:nvSpPr>
        <p:spPr>
          <a:xfrm>
            <a:off x="571500" y="6172303"/>
            <a:ext cx="11049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300" dirty="0" err="1"/>
              <a:t>Batić</a:t>
            </a:r>
            <a:r>
              <a:rPr lang="en-GB" sz="1300" dirty="0"/>
              <a:t> et al. </a:t>
            </a:r>
            <a:r>
              <a:rPr lang="en-GB" sz="1300" dirty="0" err="1"/>
              <a:t>Endovit</a:t>
            </a:r>
            <a:r>
              <a:rPr lang="en-GB" sz="1300" dirty="0"/>
              <a:t>: pretraining vision transformers on a large collection of endoscopic images. IJCARS 2024.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4FD73E-CAD8-29E6-53D1-AA42B0BB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Grounding Surgical Action Triplets with Instrument Instance Segmentation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AB64C-C00B-D411-1DB5-C8091079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D54F-FA85-F344-8424-FB00D2AE8D01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82068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FB54-B35D-D64F-92DE-B026EA154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METHOD: TargetFusionNet, use anatomy logits as a weak cue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AAD36B-BEB6-55DF-A9EE-87CFAE606E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06" y="2754630"/>
            <a:ext cx="5760983" cy="29744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CAA698-BC6B-0CE4-50E0-2C2D29370B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192" y="1002871"/>
            <a:ext cx="3521572" cy="2128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566FCF-DD56-7D7C-CE78-85FA3F3978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569" y="674370"/>
            <a:ext cx="4155064" cy="48082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BFD6EA0-208B-2681-F79F-2B08F610AB31}"/>
              </a:ext>
            </a:extLst>
          </p:cNvPr>
          <p:cNvSpPr txBox="1"/>
          <p:nvPr/>
        </p:nvSpPr>
        <p:spPr>
          <a:xfrm>
            <a:off x="2408826" y="5574670"/>
            <a:ext cx="60979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1615" lvl="2" indent="-342900">
              <a:buFont typeface="Arial" panose="020B0604020202020204" pitchFamily="34" charset="0"/>
              <a:buChar char="•"/>
            </a:pPr>
            <a:r>
              <a:rPr lang="en-US" dirty="0"/>
              <a:t>Dual-encoder Mask2Former with weak anatomical priors</a:t>
            </a:r>
          </a:p>
          <a:p>
            <a:pPr marL="611615" lvl="2" indent="-342900">
              <a:buFont typeface="Arial" panose="020B0604020202020204" pitchFamily="34" charset="0"/>
              <a:buChar char="•"/>
            </a:pPr>
            <a:r>
              <a:rPr lang="en-US" dirty="0"/>
              <a:t>Novel gated cross-attention enabling query-specific trust in anatomy predictions</a:t>
            </a:r>
            <a:endParaRPr lang="en-US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28E91-B596-8DEB-3802-2C1EDB70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Grounding Surgical Action Triplets with Instrument Instance Segmentation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BEC0B-EFB8-1C9B-2A1A-19B83B378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D54F-FA85-F344-8424-FB00D2AE8D0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845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B7962-D32A-C340-AB25-F10A9B07E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1F2530"/>
                </a:solidFill>
                <a:latin typeface="Aptos"/>
              </a:rPr>
              <a:t>RESULTS : What moves the needle?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5C22B-C6BE-DF4D-BC70-374F6AE2CC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0030" y="1088721"/>
            <a:ext cx="5097780" cy="4860560"/>
          </a:xfrm>
        </p:spPr>
        <p:txBody>
          <a:bodyPr/>
          <a:lstStyle/>
          <a:p>
            <a:pPr lvl="2"/>
            <a:r>
              <a:rPr lang="en-GB" dirty="0"/>
              <a:t>CAM-based weak grounding is not enough</a:t>
            </a:r>
          </a:p>
          <a:p>
            <a:pPr lvl="2"/>
            <a:r>
              <a:rPr lang="en-GB" dirty="0"/>
              <a:t>Strong instrument masks create the largest jump</a:t>
            </a:r>
          </a:p>
          <a:p>
            <a:pPr lvl="2"/>
            <a:r>
              <a:rPr lang="en-US" dirty="0">
                <a:solidFill>
                  <a:srgbClr val="1F2530"/>
                </a:solidFill>
                <a:latin typeface="Aptos"/>
              </a:rPr>
              <a:t>TargetFusionNet improves the strongest baseline</a:t>
            </a:r>
          </a:p>
          <a:p>
            <a:pPr lvl="3"/>
            <a:r>
              <a:rPr lang="en-US" dirty="0"/>
              <a:t>Segmentation </a:t>
            </a:r>
            <a:r>
              <a:rPr lang="en-US" dirty="0" err="1"/>
              <a:t>mAP</a:t>
            </a:r>
            <a:r>
              <a:rPr lang="en-US" dirty="0"/>
              <a:t>  = 13.47</a:t>
            </a:r>
          </a:p>
          <a:p>
            <a:pPr lvl="3"/>
            <a:r>
              <a:rPr lang="en-GB" dirty="0"/>
              <a:t>TargetFusionNet significantly outperforms our best baseline (Mask2Former-Triplet)</a:t>
            </a:r>
            <a:r>
              <a:rPr lang="en-US" dirty="0"/>
              <a:t>. </a:t>
            </a:r>
          </a:p>
          <a:p>
            <a:pPr lvl="2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461DA9-578D-C27A-86FC-FA4E90CE6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101" y="1088721"/>
            <a:ext cx="6758726" cy="361076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E10262-9C16-DE49-1A17-5850906C0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Grounding Surgical Action Triplets with Instrument Instance Segmentation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2701C-93AA-6E22-08C7-144C1A4F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D54F-FA85-F344-8424-FB00D2AE8D01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34862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B7FEC-B48A-82CF-E402-D6FD8F22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3C590-238A-D6C3-ECD0-BD406163B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QUALITATIVE : CAM localization with multiple instruments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E7A71A-C719-96B4-D2F1-FE807C6AB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46" y="739228"/>
            <a:ext cx="4557530" cy="25203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8BBCBA-B4DB-2EE0-5564-34A6C84A5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567" y="739228"/>
            <a:ext cx="4557530" cy="25681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250BD46-9F25-BE77-3E98-530A5B721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595" y="3523038"/>
            <a:ext cx="4498715" cy="252033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71B67E-D9E1-9B07-F432-FC3CBAD05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Grounding Surgical Action Triplets with Instrument Instance Segmentation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0D97A-6B82-C128-4B09-BBE7428AE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D54F-FA85-F344-8424-FB00D2AE8D01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52208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CAEF-1892-7A78-6575-E0084879D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2BB35-3782-8270-8DF5-EA614E3D6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 : </a:t>
            </a:r>
            <a:r>
              <a:rPr lang="en-US" dirty="0">
                <a:solidFill>
                  <a:srgbClr val="1F2530"/>
                </a:solidFill>
                <a:latin typeface="Aptos"/>
              </a:rPr>
              <a:t>TargetFusionNet improvement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1D7EE-5FED-F1B8-403A-CD0CBDF2A8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30814" y="5407993"/>
            <a:ext cx="3996579" cy="972710"/>
          </a:xfrm>
        </p:spPr>
        <p:txBody>
          <a:bodyPr>
            <a:normAutofit fontScale="92500" lnSpcReduction="10000"/>
          </a:bodyPr>
          <a:lstStyle/>
          <a:p>
            <a:pPr lvl="2"/>
            <a:r>
              <a:rPr lang="en-GB" dirty="0"/>
              <a:t>TargetFusionNet improves association in complex scenes, while remaining errors motivate future work.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85425-66FB-23FA-4080-DF07B201A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017" y="3429000"/>
            <a:ext cx="4498715" cy="25544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083C71-5C8A-FA57-226A-0B45AF181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238" y="730006"/>
            <a:ext cx="4498715" cy="24937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DBCC25-A32B-23D4-26FF-010CA3651A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9190" y="730006"/>
            <a:ext cx="4498715" cy="250367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1E7B6-859E-B7A3-AD29-F26F68A75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Grounding Surgical Action Triplets with Instrument Instance Segmentation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D7277-AA81-9F05-4681-9BE3CA79F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D54F-FA85-F344-8424-FB00D2AE8D01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35720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9D5F1-13D4-6B7B-2CBF-B6A3B1E42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C3AF0-60B7-BD61-0E2A-878A8D77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LIMITATIONS : </a:t>
            </a:r>
            <a:r>
              <a:rPr lang="en-US" dirty="0">
                <a:solidFill>
                  <a:srgbClr val="1F2530"/>
                </a:solidFill>
                <a:latin typeface="Aptos"/>
              </a:rPr>
              <a:t>What still fails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D1873B-A6F0-135A-EC8F-43EC220910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820" y="683289"/>
            <a:ext cx="8984948" cy="561810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708332-45E0-99DA-05A7-545A5DDC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Grounding Surgical Action Triplets with Instrument Instance Segmentation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D290C-7601-98E5-0C6D-AAE08FF21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D54F-FA85-F344-8424-FB00D2AE8D01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62698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E672F-7ADF-9EAF-3141-442415BD0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1B1286-2D78-B9A2-C531-86FE6466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1F2530"/>
                </a:solidFill>
                <a:latin typeface="Aptos"/>
              </a:rPr>
              <a:t>CONCLUSION : take-home message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86426D-CDB8-B968-8F0F-2CD085B7C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1156" y="1296491"/>
            <a:ext cx="9120081" cy="2456802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530"/>
                </a:solidFill>
              </a:rPr>
              <a:t>Triplet segmentation grounds action triplets to instrument instances.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530"/>
                </a:solidFill>
              </a:rPr>
              <a:t>CholecTriplet-Seg provides the first large-scale benchmark for this task.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530"/>
                </a:solidFill>
                <a:latin typeface="Aptos"/>
              </a:rPr>
              <a:t>TargetFusionNet shows that weak anatomy priors improve grounded triplet prediction.</a:t>
            </a:r>
            <a:endParaRPr lang="en-US" sz="2000" dirty="0">
              <a:solidFill>
                <a:srgbClr val="1F253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2530"/>
                </a:solidFill>
                <a:latin typeface="Aptos"/>
              </a:rPr>
              <a:t>The next frontier is temporal, anatomy-aware reasoning under long-tailed supervision.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957DC5A-CCAB-6490-A239-4800C7F72C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1228" y="3809679"/>
            <a:ext cx="2153786" cy="215378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A7BE491-478E-1769-992E-1B96E8ABB89D}"/>
              </a:ext>
            </a:extLst>
          </p:cNvPr>
          <p:cNvSpPr txBox="1"/>
          <p:nvPr/>
        </p:nvSpPr>
        <p:spPr>
          <a:xfrm>
            <a:off x="8156641" y="5984079"/>
            <a:ext cx="1074420" cy="36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GitHub</a:t>
            </a:r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B954AF-779E-2D00-166C-2CEF722C7182}"/>
              </a:ext>
            </a:extLst>
          </p:cNvPr>
          <p:cNvSpPr txBox="1"/>
          <p:nvPr/>
        </p:nvSpPr>
        <p:spPr>
          <a:xfrm>
            <a:off x="4857181" y="5963465"/>
            <a:ext cx="1074420" cy="36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Dataset</a:t>
            </a:r>
            <a:endParaRPr lang="en-GB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6B95120-B811-381D-4737-0E58A14F28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922" y="3830293"/>
            <a:ext cx="2153786" cy="215378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2B420B-EF2A-3F04-A1A4-4749C3BBB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Grounding Surgical Action Triplets with Instrument Instance Segmentation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BC7214-FB89-BE78-0F36-821D420BB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4D54F-FA85-F344-8424-FB00D2AE8D01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50782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KCL CTEL presentation template_180112">
  <a:themeElements>
    <a:clrScheme name="KCL">
      <a:dk1>
        <a:sysClr val="windowText" lastClr="000000"/>
      </a:dk1>
      <a:lt1>
        <a:sysClr val="window" lastClr="FFFFFF"/>
      </a:lt1>
      <a:dk2>
        <a:srgbClr val="0A2D50"/>
      </a:dk2>
      <a:lt2>
        <a:srgbClr val="CDD7DC"/>
      </a:lt2>
      <a:accent1>
        <a:srgbClr val="E2231A"/>
      </a:accent1>
      <a:accent2>
        <a:srgbClr val="FF5F05"/>
      </a:accent2>
      <a:accent3>
        <a:srgbClr val="F5B90F"/>
      </a:accent3>
      <a:accent4>
        <a:srgbClr val="C8E128"/>
      </a:accent4>
      <a:accent5>
        <a:srgbClr val="009EA0"/>
      </a:accent5>
      <a:accent6>
        <a:srgbClr val="005AD2"/>
      </a:accent6>
      <a:hlink>
        <a:srgbClr val="E2231A"/>
      </a:hlink>
      <a:folHlink>
        <a:srgbClr val="E2231A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rtlCol="0" anchor="t" anchorCtr="0"/>
      <a:lstStyle>
        <a:defPPr algn="l">
          <a:defRPr sz="1400" b="1" dirty="0" smtClean="0">
            <a:solidFill>
              <a:schemeClr val="tx1"/>
            </a:solidFill>
            <a:cs typeface="Georgia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2558F287BC8344AD539CDC4DA17FBC" ma:contentTypeVersion="10" ma:contentTypeDescription="Create a new document." ma:contentTypeScope="" ma:versionID="165e8038d85e89d0753c71c915416bd7">
  <xsd:schema xmlns:xsd="http://www.w3.org/2001/XMLSchema" xmlns:xs="http://www.w3.org/2001/XMLSchema" xmlns:p="http://schemas.microsoft.com/office/2006/metadata/properties" xmlns:ns2="a9a9e2ba-2d19-46fe-bf54-0255447a607c" xmlns:ns3="8e67869f-b319-4f8e-812d-d2b9322169ce" targetNamespace="http://schemas.microsoft.com/office/2006/metadata/properties" ma:root="true" ma:fieldsID="abf99e3026b4072fe3426938b59b700a" ns2:_="" ns3:_="">
    <xsd:import namespace="a9a9e2ba-2d19-46fe-bf54-0255447a607c"/>
    <xsd:import namespace="8e67869f-b319-4f8e-812d-d2b9322169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a9e2ba-2d19-46fe-bf54-0255447a60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67869f-b319-4f8e-812d-d2b9322169c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B57E6C-04A0-4EB4-9DC4-971645A5D1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a9e2ba-2d19-46fe-bf54-0255447a607c"/>
    <ds:schemaRef ds:uri="8e67869f-b319-4f8e-812d-d2b9322169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B4FFAB-A2D9-4FD5-855F-F65126373F7D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8e67869f-b319-4f8e-812d-d2b9322169ce"/>
    <ds:schemaRef ds:uri="http://purl.org/dc/terms/"/>
    <ds:schemaRef ds:uri="a9a9e2ba-2d19-46fe-bf54-0255447a607c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A9C8777-C6EC-4528-A529-B1E15BCDF7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3007</TotalTime>
  <Words>602</Words>
  <Application>Microsoft Office PowerPoint</Application>
  <PresentationFormat>Widescreen</PresentationFormat>
  <Paragraphs>111</Paragraphs>
  <Slides>12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Georgia</vt:lpstr>
      <vt:lpstr>KCL CTEL presentation template_180112</vt:lpstr>
      <vt:lpstr>Grounding Surgical Action Triplets with Instrument Instance Segmentation</vt:lpstr>
      <vt:lpstr>What is visual grounding?</vt:lpstr>
      <vt:lpstr>PROBLEM → TASK: Grounding triplets</vt:lpstr>
      <vt:lpstr>TASK : We define triplet segmentation </vt:lpstr>
      <vt:lpstr>DATASET: CholecTriplet-Seg</vt:lpstr>
      <vt:lpstr>BOTTLENECK: The hard part is the target</vt:lpstr>
      <vt:lpstr>METHOD: TargetFusionNet, use anatomy logits as a weak cue</vt:lpstr>
      <vt:lpstr>RESULTS : What moves the needle?</vt:lpstr>
      <vt:lpstr>QUALITATIVE : CAM localization with multiple instruments</vt:lpstr>
      <vt:lpstr>EXAMPLES : TargetFusionNet improvement</vt:lpstr>
      <vt:lpstr>LIMITATIONS : What still fails</vt:lpstr>
      <vt:lpstr>CONCLUSION : take-home message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Harrison, Sue</dc:creator>
  <cp:lastModifiedBy>OLUWATOSIN ALABI</cp:lastModifiedBy>
  <cp:revision>156</cp:revision>
  <dcterms:created xsi:type="dcterms:W3CDTF">2018-06-13T12:38:06Z</dcterms:created>
  <dcterms:modified xsi:type="dcterms:W3CDTF">2026-06-23T15:22:30Z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0x010100B02558F287BC8344AD539CDC4DA17FBC</vt:lpwstr>
  </property>
</Properties>
</file>