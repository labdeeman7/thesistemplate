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6" r:id="rId2"/>
    <p:sldId id="273" r:id="rId3"/>
    <p:sldId id="269" r:id="rId4"/>
    <p:sldId id="270" r:id="rId5"/>
    <p:sldId id="272" r:id="rId6"/>
    <p:sldId id="271" r:id="rId7"/>
    <p:sldId id="274" r:id="rId8"/>
    <p:sldId id="276" r:id="rId9"/>
    <p:sldId id="279" r:id="rId10"/>
    <p:sldId id="286" r:id="rId11"/>
    <p:sldId id="283" r:id="rId12"/>
    <p:sldId id="277" r:id="rId13"/>
    <p:sldId id="280" r:id="rId14"/>
    <p:sldId id="284" r:id="rId15"/>
    <p:sldId id="281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E3A2DD-7038-4CF2-F1E6-5442C60FBCB1}" name="OLUWATOSIN ALABI" initials="OA" userId="55cd164168562c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774" autoAdjust="0"/>
  </p:normalViewPr>
  <p:slideViewPr>
    <p:cSldViewPr snapToGrid="0">
      <p:cViewPr varScale="1">
        <p:scale>
          <a:sx n="89" d="100"/>
          <a:sy n="89" d="100"/>
        </p:scale>
        <p:origin x="14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TOSIN ALABI" userId="55cd164168562cfa" providerId="LiveId" clId="{35965759-E218-4BBE-8D48-06123F3EAA94}"/>
    <pc:docChg chg="undo custSel delSld modSld">
      <pc:chgData name="OLUWATOSIN ALABI" userId="55cd164168562cfa" providerId="LiveId" clId="{35965759-E218-4BBE-8D48-06123F3EAA94}" dt="2026-05-20T17:39:35.340" v="10" actId="20577"/>
      <pc:docMkLst>
        <pc:docMk/>
      </pc:docMkLst>
      <pc:sldChg chg="modSp mod">
        <pc:chgData name="OLUWATOSIN ALABI" userId="55cd164168562cfa" providerId="LiveId" clId="{35965759-E218-4BBE-8D48-06123F3EAA94}" dt="2026-05-20T17:39:35.340" v="10" actId="20577"/>
        <pc:sldMkLst>
          <pc:docMk/>
          <pc:sldMk cId="711488647" sldId="266"/>
        </pc:sldMkLst>
        <pc:spChg chg="mod">
          <ac:chgData name="OLUWATOSIN ALABI" userId="55cd164168562cfa" providerId="LiveId" clId="{35965759-E218-4BBE-8D48-06123F3EAA94}" dt="2026-05-20T17:39:35.340" v="10" actId="20577"/>
          <ac:spMkLst>
            <pc:docMk/>
            <pc:sldMk cId="711488647" sldId="266"/>
            <ac:spMk id="2" creationId="{F6538C1A-9A54-4989-A0E8-6DDA08D39678}"/>
          </ac:spMkLst>
        </pc:spChg>
      </pc:sldChg>
      <pc:sldChg chg="modSp mod">
        <pc:chgData name="OLUWATOSIN ALABI" userId="55cd164168562cfa" providerId="LiveId" clId="{35965759-E218-4BBE-8D48-06123F3EAA94}" dt="2026-05-20T17:39:34.117" v="8" actId="20577"/>
        <pc:sldMkLst>
          <pc:docMk/>
          <pc:sldMk cId="1167511430" sldId="273"/>
        </pc:sldMkLst>
        <pc:spChg chg="mod">
          <ac:chgData name="OLUWATOSIN ALABI" userId="55cd164168562cfa" providerId="LiveId" clId="{35965759-E218-4BBE-8D48-06123F3EAA94}" dt="2026-05-20T17:39:34.117" v="8" actId="20577"/>
          <ac:spMkLst>
            <pc:docMk/>
            <pc:sldMk cId="1167511430" sldId="273"/>
            <ac:spMk id="3" creationId="{B59BE70E-492F-228C-357B-409A69E3D7F3}"/>
          </ac:spMkLst>
        </pc:spChg>
      </pc:sldChg>
      <pc:sldChg chg="del">
        <pc:chgData name="OLUWATOSIN ALABI" userId="55cd164168562cfa" providerId="LiveId" clId="{35965759-E218-4BBE-8D48-06123F3EAA94}" dt="2026-05-20T17:38:16.513" v="0" actId="2696"/>
        <pc:sldMkLst>
          <pc:docMk/>
          <pc:sldMk cId="3643973640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D0A52-C79A-4896-B1F6-5221811F467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EA37-EAC9-4D53-A172-032C03A31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56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Surgical action triplets </a:t>
            </a:r>
            <a:r>
              <a:rPr lang="en-GB" sz="1200" dirty="0"/>
              <a:t>are a compact but expressive representation of surgical activity specifically Tool-Tissue Interaction</a:t>
            </a:r>
            <a:endParaRPr lang="en-US" sz="1200" dirty="0"/>
          </a:p>
          <a:p>
            <a:r>
              <a:rPr lang="en-GB" dirty="0"/>
              <a:t>Cholecystectomy is a very popular MIS and CholecT50 and triplets is a popular task.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0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application - </a:t>
            </a:r>
            <a:r>
              <a:rPr lang="en-GB" dirty="0"/>
              <a:t>Help to detect incorrect actions or unsafe tool tissue interactions</a:t>
            </a:r>
            <a:endParaRPr lang="en-US" dirty="0"/>
          </a:p>
          <a:p>
            <a:r>
              <a:rPr lang="en-US" dirty="0"/>
              <a:t>Improved workflow modelling – Phase recognition, or time to completion.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70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495EA-8559-0636-4A6B-60F5B920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5E874-D0E1-5065-5771-68AB6833C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5CB59-B57D-C87E-207C-4F1C04BC5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/>
            <a:r>
              <a:rPr lang="en-GB" noProof="0" dirty="0"/>
              <a:t>Originally, it is a frame level task which involves  predict all the triplets in the image. </a:t>
            </a:r>
          </a:p>
          <a:p>
            <a:pPr marL="285750" lvl="0" indent="-285750"/>
            <a:r>
              <a:rPr lang="en-GB" noProof="0" dirty="0"/>
              <a:t>A better representation would be </a:t>
            </a:r>
            <a:br>
              <a:rPr lang="en-GB" noProof="0" dirty="0"/>
            </a:br>
            <a:r>
              <a:rPr lang="en-GB" noProof="0" dirty="0"/>
              <a:t>&lt;</a:t>
            </a:r>
            <a:r>
              <a:rPr lang="en-GB" noProof="0" dirty="0" err="1"/>
              <a:t>grasper,retract,liver</a:t>
            </a:r>
            <a:r>
              <a:rPr lang="en-GB" noProof="0" dirty="0"/>
              <a:t>&gt; + location information</a:t>
            </a:r>
          </a:p>
          <a:p>
            <a:pPr marL="285750" lvl="0" indent="-285750"/>
            <a:r>
              <a:rPr lang="en-GB" noProof="0" dirty="0"/>
              <a:t>This gives information for applications that want position of interaction.</a:t>
            </a:r>
          </a:p>
          <a:p>
            <a:pPr marL="285750" indent="-285750"/>
            <a:endParaRPr lang="en-GB" noProof="0" dirty="0"/>
          </a:p>
          <a:p>
            <a:pPr marL="285750" indent="-285750"/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77756-BB0B-91C8-9109-6D8416436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01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We needed to match each triplet label to a mask</a:t>
            </a:r>
          </a:p>
          <a:p>
            <a:r>
              <a:rPr lang="en-GB" noProof="0" dirty="0"/>
              <a:t>Initial alignment by automatically matching instrument class labels in CholecT50 and CholecInstanceSeg.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5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The baseline for surgical action triplet prediction is called the Rendezvous(RDV). It is an attention-based method for predicting all three tasks &lt;instrument, verb, target&gt;. This was made in 2022.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There was an attempt in the MICCAI 2023 challenge to utilize external datasets to localize, but this did not work 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The RDV-Det was proposed in this challenge and utilized class activation maps on the predicted instrument classes  to perform grounding.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87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Mainly a way to inculcate the instrument information to what they called verb and target features. They attended the features </a:t>
            </a:r>
            <a:r>
              <a:rPr lang="en-US" dirty="0" err="1"/>
              <a:t>frm</a:t>
            </a:r>
            <a:r>
              <a:rPr lang="en-US" dirty="0"/>
              <a:t> the CAM with the verb features and the target features. To generate </a:t>
            </a:r>
            <a:r>
              <a:rPr lang="en-US" dirty="0" err="1"/>
              <a:t>Yv</a:t>
            </a:r>
            <a:r>
              <a:rPr lang="en-US" dirty="0"/>
              <a:t> and YOT. Note it is the activation maps that are taken. There are some </a:t>
            </a:r>
            <a:r>
              <a:rPr lang="en-US" dirty="0" err="1"/>
              <a:t>submtilities</a:t>
            </a:r>
            <a:r>
              <a:rPr lang="en-US" dirty="0"/>
              <a:t>, note QTK and </a:t>
            </a:r>
            <a:r>
              <a:rPr lang="en-US" dirty="0" err="1"/>
              <a:t>QKt</a:t>
            </a:r>
            <a:r>
              <a:rPr lang="en-US" dirty="0"/>
              <a:t>. Their idea of comparing saliency maps. This was the way to do visual attention before the advent of </a:t>
            </a:r>
            <a:r>
              <a:rPr lang="en-US" dirty="0" err="1"/>
              <a:t>ViT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19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GB" noProof="0" dirty="0"/>
              <a:t>We created two common sense baselines using our dataset. </a:t>
            </a:r>
          </a:p>
          <a:p>
            <a:pPr lvl="1"/>
            <a:r>
              <a:rPr lang="en-GB" noProof="0" dirty="0"/>
              <a:t>RDV+Mask2former - We utilized the triplets predicted by the RDV and matched them with instances from a mask2former instrument and matched with the instrument class heuristic. </a:t>
            </a:r>
          </a:p>
          <a:p>
            <a:pPr lvl="1"/>
            <a:r>
              <a:rPr lang="en-GB" noProof="0" dirty="0"/>
              <a:t>Mask2former-Triplet -  Directly predict the triplet classes from the mask2former queries</a:t>
            </a:r>
          </a:p>
          <a:p>
            <a:r>
              <a:rPr lang="en-GB" noProof="0" dirty="0"/>
              <a:t>Results from this common sense dataset already far improves on RDV-Det justifying adding localization information, </a:t>
            </a:r>
            <a:r>
              <a:rPr lang="en-GB" i="1" noProof="0" dirty="0"/>
              <a:t>however, we noticed that the metric on target prediction is very low. </a:t>
            </a:r>
          </a:p>
          <a:p>
            <a:endParaRPr lang="en-GB" i="1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RDV+ Mask2formerThis shows us the effect of adding the instrument prediction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Mask2former-Triplets eliminate the query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20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proposed the triplet segmentation metric, because we noticed that there is lots of overlap in bounding boxes when they are near each other, and no overlap in segmentation. </a:t>
            </a:r>
          </a:p>
          <a:p>
            <a:r>
              <a:rPr lang="en-GB" dirty="0"/>
              <a:t>Triplet </a:t>
            </a:r>
            <a:r>
              <a:rPr lang="en-GB" dirty="0" err="1"/>
              <a:t>mAP</a:t>
            </a:r>
            <a:r>
              <a:rPr lang="en-GB" dirty="0"/>
              <a:t> is the hardest metric—requires everything correct </a:t>
            </a:r>
            <a:r>
              <a:rPr lang="en-GB" i="1" dirty="0"/>
              <a:t>and</a:t>
            </a:r>
            <a:r>
              <a:rPr lang="en-GB" dirty="0"/>
              <a:t> grounded in the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72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Looking at the metrics, we noticed that the instrument prediction and action prediction work very well, but the target prediction does not work as well. </a:t>
            </a:r>
          </a:p>
          <a:p>
            <a:r>
              <a:rPr lang="en-GB" noProof="0" dirty="0"/>
              <a:t>This makes sense in that there are 6 instruments, 10 actions and 15 possible targets (instrument easier than action easier than targets). </a:t>
            </a:r>
          </a:p>
          <a:p>
            <a:r>
              <a:rPr lang="en-GB" noProof="0" dirty="0"/>
              <a:t>However we needed a way to improve target prediction. As if the targets are not predicted well, all triplet scores would go down. </a:t>
            </a:r>
          </a:p>
          <a:p>
            <a:pPr lvl="1"/>
            <a:r>
              <a:rPr lang="en-GB" noProof="0" dirty="0"/>
              <a:t>All triplets must be predicted correctly for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ivt</a:t>
            </a:r>
            <a:r>
              <a:rPr lang="en-GB" baseline="-25000" noProof="0" dirty="0"/>
              <a:t> </a:t>
            </a:r>
            <a:r>
              <a:rPr lang="en-GB" noProof="0" dirty="0"/>
              <a:t>to have a high value. </a:t>
            </a:r>
          </a:p>
          <a:p>
            <a:r>
              <a:rPr lang="en-GB" noProof="0" dirty="0"/>
              <a:t>While we have instrument localization information we do not have any for the targets. </a:t>
            </a:r>
          </a:p>
          <a:p>
            <a:r>
              <a:rPr lang="en-GB" noProof="0" dirty="0"/>
              <a:t>Annotating targets is also really difficult.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19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Overview of the </a:t>
            </a:r>
            <a:r>
              <a:rPr lang="en-GB" noProof="0" dirty="0" err="1"/>
              <a:t>TargetFusionNet</a:t>
            </a:r>
            <a:r>
              <a:rPr lang="en-GB" noProof="0" dirty="0"/>
              <a:t>. It augments the Mask2former with two things. A Pseudo-Anatomy encoder that processes weak anatomy logits from </a:t>
            </a:r>
            <a:r>
              <a:rPr lang="en-GB" noProof="0" dirty="0" err="1"/>
              <a:t>EndoViT</a:t>
            </a:r>
            <a:r>
              <a:rPr lang="en-GB" noProof="0" dirty="0"/>
              <a:t> into multi-scale feature maps. And a target fusion module that fuses the weak anatomy logits with a gated cross attention module (cross attention with a gate to determine how much of the information from the weak anatomy to use.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04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While RDV-Det is very poor at localizing (Segmentation and Detection Results). Using a grounded dataset, we are able to improve the results a lot. </a:t>
            </a:r>
            <a:br>
              <a:rPr lang="en-GB" noProof="0" dirty="0"/>
            </a:br>
            <a:r>
              <a:rPr lang="en-GB" noProof="0" dirty="0"/>
              <a:t>Using a one stage mask2former to predict is better than using RDV+Mask2former, and adding weak target information asl helps the predictions. However, the results are still low and there is much to be done. 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CEA37-EAC9-4D53-A172-032C03A31D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2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17B1-575D-4CEB-9B6E-8054C37E3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F223D-8316-4F54-9680-0506A26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F7954-121C-4E72-AF69-342684CD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B2EA7-9FF3-48AF-9307-94878E75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CB0B9-E5E2-4838-B74E-021E04128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9A89-89C5-44A3-AE7A-3AB071C1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D102D-8E1F-4752-89F4-9B6A781B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A8E5C-46BA-444A-A4F3-44A33D10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50489-CE38-4AFC-822D-33825C36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3C4C0-6F15-4F47-8CC3-82C0E5E2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7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9D5D-7BF7-41FC-BFA2-2EB0002E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E26D4-C23C-435E-9875-868875E4B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03C5F-7F4F-4F98-8602-4F3C5D20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79775-D72A-4E56-8B99-DE4CD68B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1C066-FD75-4E0D-9B64-8B368EE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F5C1-29A1-4711-AFAC-19DBBA10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7CDF6-D201-4663-8CD6-09331EDAD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88C7F-13E3-40EC-8018-D0ABD3604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EA87-FF6C-42A4-B57E-6A87FA4E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007D9-5E08-455C-BBF9-05BF8294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B6DF6-7971-4C28-BB83-2C4D8BE5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467B-E7A5-4718-8535-B57ADC12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7488D-87EA-4CBF-B33F-B7868ACE4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29159-B282-4965-9EEC-A2DAD477C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69BF3-BE2F-4B00-8A87-0D7625C53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F5645-C16E-4723-BA29-0769AEB3A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82FCE-1994-4E91-B031-245891E4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7FDE0-C18B-4008-B990-2A85A47E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DEB0B2-6B24-412F-86C3-86CA666E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8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3683-64E9-4B0A-8E18-C344BC42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DBBD4-ED41-4322-9E5C-19DD58AF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0A28A-7BD0-4C9B-A8DB-BAF47AF1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893C3-FFB3-4DEB-92FC-E1A9DF16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1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3AF6F-B846-400F-A221-3B53F4DD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24FBB-0BED-424F-8A3C-1A31D4D5D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4B2BD-D941-4B84-9255-787FD800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5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3254-FDDE-4F1F-A657-96720051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F6875-983C-4830-B47A-F8F7B69AF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983BD-87D2-45EE-A9A5-432AB77AC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B5E8D-594A-40F4-BC7A-7BB5E237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97E40-1571-4E1B-83D4-9BCF2245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02B60-6BAA-4196-8C18-F9D5A136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011F-AB02-40EC-A589-7C5F84C1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1AE661-781A-4F7D-8B0C-7BBA7E6AB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6E390-942A-4AB7-B492-28105EB39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F27ED-D1E1-406E-BE0D-4E8A1F42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EDFE3-CE95-42A8-A9A4-BCE34394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113F1-7DF8-437C-A5F0-8D0E80A5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3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AD84-E54E-4D74-B140-21F80C1F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EF38A-0515-4067-9093-7F98DA313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F3120-8F04-45FC-BACD-13A31089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EED2B-6471-44B2-A7C3-64E16042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03739-AB28-45A8-8054-DEAEFC49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6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D75E25-6B13-499B-BEF7-2807A006B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4227A-8D1F-4A71-A57F-689DF2DE2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D459C-14E1-441B-851D-77C729C0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80F38-35BB-4FD5-93BF-05ED17B6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34EC-A894-4D56-A382-FC75CF80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1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D8678-691E-4426-97D5-B7D66D5FB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6A5D2-4618-4D26-9A9A-CD4711399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8F1B8-7B13-4A97-99C0-7BB4EEC3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CE25F-90A0-48CD-A04E-90E4D7C2F2A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26AFF-129B-48C6-BE5E-19618265E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D539-010D-4694-91A3-853661401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93F13-EB95-43D1-A59A-996C638E1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2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cai4cai/cholec_instance_se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8C1A-9A54-4989-A0E8-6DDA08D39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927" y="1994108"/>
            <a:ext cx="11661227" cy="1736841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Grounding Surgical Action Triplets with Instrument Instance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E2AFF-8E92-4945-95D2-0A42B5561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386" y="4690242"/>
            <a:ext cx="9144000" cy="10096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800" noProof="0" dirty="0"/>
              <a:t>Oluwatosin Alabi</a:t>
            </a:r>
          </a:p>
          <a:p>
            <a:r>
              <a:rPr lang="en-GB" sz="2800" noProof="0" dirty="0"/>
              <a:t>02/09/2025</a:t>
            </a:r>
            <a:endParaRPr lang="en-GB" sz="2800" noProof="0" dirty="0">
              <a:cs typeface="Calibri"/>
            </a:endParaRPr>
          </a:p>
        </p:txBody>
      </p:sp>
      <p:pic>
        <p:nvPicPr>
          <p:cNvPr id="4" name="Picture 2" descr="Kings College London Logo Vector (.EPS) Free Download">
            <a:extLst>
              <a:ext uri="{FF2B5EF4-FFF2-40B4-BE49-F238E27FC236}">
                <a16:creationId xmlns:a16="http://schemas.microsoft.com/office/drawing/2014/main" id="{938D904B-AF90-4B31-AA55-157EF74E1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80" y="189053"/>
            <a:ext cx="2066693" cy="118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BAA2A49-DF48-B355-7080-A8F1650A0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9510" y="139467"/>
            <a:ext cx="2382033" cy="115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8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9A88-F53A-0DAC-4091-B78EB694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E70E-492F-228C-357B-409A69E3D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702" y="1690687"/>
            <a:ext cx="7906407" cy="4802187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My name is Oluwatosin (Tosin) Alabi</a:t>
            </a:r>
          </a:p>
          <a:p>
            <a:r>
              <a:rPr lang="en-GB" noProof="0" dirty="0"/>
              <a:t>I am a PhD student in the EPSRC CDT in Smart Medical Imaging at King’s College London</a:t>
            </a:r>
          </a:p>
          <a:p>
            <a:r>
              <a:rPr lang="en-GB" noProof="0" dirty="0"/>
              <a:t>I am super supervised by </a:t>
            </a:r>
            <a:br>
              <a:rPr lang="en-GB" noProof="0" dirty="0"/>
            </a:br>
            <a:r>
              <a:rPr lang="en-GB" noProof="0" dirty="0"/>
              <a:t>Prof Tom Vercauteren and </a:t>
            </a:r>
            <a:br>
              <a:rPr lang="en-GB" noProof="0" dirty="0"/>
            </a:br>
            <a:r>
              <a:rPr lang="en-GB" noProof="0" dirty="0"/>
              <a:t>Prof </a:t>
            </a:r>
            <a:r>
              <a:rPr lang="en-GB" noProof="0" dirty="0" err="1"/>
              <a:t>Miaojing</a:t>
            </a:r>
            <a:r>
              <a:rPr lang="en-GB" noProof="0" dirty="0"/>
              <a:t> Shi. </a:t>
            </a:r>
          </a:p>
          <a:p>
            <a:r>
              <a:rPr lang="en-GB" noProof="0" dirty="0"/>
              <a:t>My research focuses on surgical computer vision, particularly understanding surgical actions through triplet prediction and grounding.</a:t>
            </a:r>
          </a:p>
          <a:p>
            <a:r>
              <a:rPr lang="en-GB" noProof="0" dirty="0"/>
              <a:t>I worked with Hwee Kuan during a summer internship in 2021. </a:t>
            </a:r>
          </a:p>
        </p:txBody>
      </p:sp>
      <p:pic>
        <p:nvPicPr>
          <p:cNvPr id="1026" name="Picture 2" descr="Oluwatosin Alabi">
            <a:extLst>
              <a:ext uri="{FF2B5EF4-FFF2-40B4-BE49-F238E27FC236}">
                <a16:creationId xmlns:a16="http://schemas.microsoft.com/office/drawing/2014/main" id="{9DB76DDC-23C6-BFB9-0720-A593CEE7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9" y="1656266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457653-7C32-FE5D-3050-7D38A361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542" y="2939507"/>
            <a:ext cx="1047475" cy="12120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9F8934-9C26-C47E-AB50-843C78896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825" y="2902453"/>
            <a:ext cx="1259371" cy="124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1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5FD0C-B986-CE38-AFB4-B5181790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Surgical Action Triplets (Intro…)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28F9CE-FA69-B104-B614-ED218D3A7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655" y="1975247"/>
            <a:ext cx="4908307" cy="31853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9E1FBB-1A27-6CD9-0D3B-8EC38BA054C5}"/>
              </a:ext>
            </a:extLst>
          </p:cNvPr>
          <p:cNvSpPr txBox="1"/>
          <p:nvPr/>
        </p:nvSpPr>
        <p:spPr>
          <a:xfrm>
            <a:off x="5223642" y="2582816"/>
            <a:ext cx="68947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noProof="0" dirty="0"/>
              <a:t>Instrument:</a:t>
            </a:r>
            <a:r>
              <a:rPr lang="en-GB" sz="2400" noProof="0" dirty="0"/>
              <a:t> The surgical tool(e.g. grasper, hook)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noProof="0" dirty="0"/>
              <a:t>Verb: </a:t>
            </a:r>
            <a:r>
              <a:rPr lang="en-GB" sz="2400" noProof="0" dirty="0"/>
              <a:t>The action performed (e.g., grasp, dissect)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noProof="0" dirty="0"/>
              <a:t>Target: </a:t>
            </a:r>
            <a:r>
              <a:rPr lang="en-GB" sz="2400" noProof="0" dirty="0"/>
              <a:t>Tissue/structure acted upon(</a:t>
            </a:r>
            <a:r>
              <a:rPr lang="en-GB" sz="2400" noProof="0" dirty="0" err="1"/>
              <a:t>e.g</a:t>
            </a:r>
            <a:r>
              <a:rPr lang="en-GB" sz="2400" noProof="0" dirty="0"/>
              <a:t> gallbladder)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Action triplets are written as  </a:t>
            </a:r>
            <a:br>
              <a:rPr lang="en-GB" sz="2400" noProof="0" dirty="0"/>
            </a:br>
            <a:r>
              <a:rPr lang="en-GB" sz="2400" b="1" noProof="0" dirty="0"/>
              <a:t>&lt;instrument, verb, target&gt;</a:t>
            </a:r>
            <a:endParaRPr lang="en-GB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r>
              <a:rPr lang="en-GB" sz="2400" noProof="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49FE1-C229-6E02-B80C-18564BA30069}"/>
              </a:ext>
            </a:extLst>
          </p:cNvPr>
          <p:cNvSpPr txBox="1"/>
          <p:nvPr/>
        </p:nvSpPr>
        <p:spPr>
          <a:xfrm>
            <a:off x="838200" y="5260472"/>
            <a:ext cx="3436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noProof="0" dirty="0"/>
              <a:t>&lt;Hook, Dissect, Gallbladder&gt;</a:t>
            </a:r>
          </a:p>
        </p:txBody>
      </p:sp>
    </p:spTree>
    <p:extLst>
      <p:ext uri="{BB962C8B-B14F-4D97-AF65-F5344CB8AC3E}">
        <p14:creationId xmlns:p14="http://schemas.microsoft.com/office/powerpoint/2010/main" val="76475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1460-A596-FAB1-E5F8-BDA4C2F1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5F11-EDEC-757B-EC91-477C625B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Why Surgical action triplets</a:t>
            </a:r>
          </a:p>
        </p:txBody>
      </p:sp>
      <p:pic>
        <p:nvPicPr>
          <p:cNvPr id="15" name="Picture 14" descr="Close-up of a person's body&#10;&#10;AI-generated content may be incorrect.">
            <a:extLst>
              <a:ext uri="{FF2B5EF4-FFF2-40B4-BE49-F238E27FC236}">
                <a16:creationId xmlns:a16="http://schemas.microsoft.com/office/drawing/2014/main" id="{45A2A46D-F220-FF4E-12F6-0851EC800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3948"/>
            <a:ext cx="4466456" cy="34346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2164E-247C-4314-8632-35E726042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820" y="1576553"/>
            <a:ext cx="7294180" cy="4916322"/>
          </a:xfrm>
        </p:spPr>
        <p:txBody>
          <a:bodyPr>
            <a:normAutofit/>
          </a:bodyPr>
          <a:lstStyle/>
          <a:p>
            <a:pPr marL="285750" indent="-285750"/>
            <a:r>
              <a:rPr lang="en-GB" noProof="0" dirty="0"/>
              <a:t>It allows for a structure representation of each step the surgeon takes. </a:t>
            </a:r>
          </a:p>
          <a:p>
            <a:pPr marL="285750" indent="-285750"/>
            <a:r>
              <a:rPr lang="en-GB" noProof="0" dirty="0"/>
              <a:t>It has potential for lots of downstream applications</a:t>
            </a:r>
          </a:p>
          <a:p>
            <a:pPr marL="742950" lvl="1" indent="-285750"/>
            <a:r>
              <a:rPr lang="en-GB" b="1" noProof="0" dirty="0"/>
              <a:t>Safety </a:t>
            </a:r>
            <a:r>
              <a:rPr lang="en-GB" noProof="0" dirty="0"/>
              <a:t>- Detect unsafe tool-tissue interactions</a:t>
            </a:r>
          </a:p>
          <a:p>
            <a:pPr marL="742950" lvl="1" indent="-285750"/>
            <a:r>
              <a:rPr lang="en-GB" b="1" noProof="0" dirty="0"/>
              <a:t>Improved Workflow modelling </a:t>
            </a:r>
            <a:r>
              <a:rPr lang="en-GB" noProof="0" dirty="0"/>
              <a:t>- maps surgical steps over time</a:t>
            </a:r>
          </a:p>
          <a:p>
            <a:pPr marL="742950" lvl="1" indent="-285750"/>
            <a:r>
              <a:rPr lang="en-GB" b="1" noProof="0" dirty="0"/>
              <a:t>Skill assessment</a:t>
            </a:r>
            <a:r>
              <a:rPr lang="en-GB" noProof="0" dirty="0"/>
              <a:t>  - You can apply it to track actions performed by trainees</a:t>
            </a:r>
          </a:p>
          <a:p>
            <a:pPr marL="742950" lvl="1" indent="-285750"/>
            <a:r>
              <a:rPr lang="en-GB" b="1" noProof="0" dirty="0"/>
              <a:t>Video Summarization</a:t>
            </a:r>
            <a:r>
              <a:rPr lang="en-GB" noProof="0" dirty="0"/>
              <a:t> – Summarize in terms of triplets per frame.</a:t>
            </a:r>
          </a:p>
        </p:txBody>
      </p:sp>
    </p:spTree>
    <p:extLst>
      <p:ext uri="{BB962C8B-B14F-4D97-AF65-F5344CB8AC3E}">
        <p14:creationId xmlns:p14="http://schemas.microsoft.com/office/powerpoint/2010/main" val="421962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DCAE7-69E6-3B08-940F-28F867FA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AFE7-9D63-9567-E9BC-580CDD8E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41" y="150311"/>
            <a:ext cx="10515600" cy="1325563"/>
          </a:xfrm>
        </p:spPr>
        <p:txBody>
          <a:bodyPr/>
          <a:lstStyle/>
          <a:p>
            <a:r>
              <a:rPr lang="en-GB" noProof="0" dirty="0"/>
              <a:t>Triplet Recognition: The Original Task</a:t>
            </a:r>
          </a:p>
        </p:txBody>
      </p:sp>
      <p:pic>
        <p:nvPicPr>
          <p:cNvPr id="15" name="Picture 14" descr="Close-up of a person's body&#10;&#10;AI-generated content may be incorrect.">
            <a:extLst>
              <a:ext uri="{FF2B5EF4-FFF2-40B4-BE49-F238E27FC236}">
                <a16:creationId xmlns:a16="http://schemas.microsoft.com/office/drawing/2014/main" id="{F98FCAA7-93E3-25E6-F189-F57CCBE8C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2500"/>
            <a:ext cx="4466456" cy="34346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650F0-72F0-7D0F-FED5-A402C66D7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056" y="2206472"/>
            <a:ext cx="7725544" cy="2887672"/>
          </a:xfrm>
        </p:spPr>
        <p:txBody>
          <a:bodyPr>
            <a:normAutofit/>
          </a:bodyPr>
          <a:lstStyle/>
          <a:p>
            <a:pPr marL="285750" indent="-285750"/>
            <a:r>
              <a:rPr lang="en-GB" dirty="0"/>
              <a:t>Predict all triplets </a:t>
            </a:r>
            <a:r>
              <a:rPr lang="en-GB" b="1" dirty="0"/>
              <a:t>per frame</a:t>
            </a:r>
          </a:p>
          <a:p>
            <a:pPr marL="285750" indent="-285750"/>
            <a:r>
              <a:rPr lang="en-GB" b="1" dirty="0"/>
              <a:t>No instance-level grounding</a:t>
            </a:r>
            <a:r>
              <a:rPr lang="en-GB" dirty="0"/>
              <a:t> </a:t>
            </a:r>
          </a:p>
          <a:p>
            <a:pPr marL="285750" indent="-285750"/>
            <a:r>
              <a:rPr lang="en-GB" dirty="0"/>
              <a:t>Instance level grounding adds localisation</a:t>
            </a:r>
          </a:p>
          <a:p>
            <a:pPr marL="285750" indent="-285750"/>
            <a:r>
              <a:rPr lang="en-GB" dirty="0"/>
              <a:t>Confusion when multiple identical tools appear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554F7-E3B0-9FBA-76AF-F621413FA86D}"/>
              </a:ext>
            </a:extLst>
          </p:cNvPr>
          <p:cNvSpPr txBox="1"/>
          <p:nvPr/>
        </p:nvSpPr>
        <p:spPr>
          <a:xfrm>
            <a:off x="302828" y="1850835"/>
            <a:ext cx="386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noProof="0" dirty="0">
                <a:solidFill>
                  <a:srgbClr val="FF0000"/>
                </a:solidFill>
              </a:rPr>
              <a:t>No Localisation -&gt; Ambiguity</a:t>
            </a:r>
          </a:p>
        </p:txBody>
      </p:sp>
    </p:spTree>
    <p:extLst>
      <p:ext uri="{BB962C8B-B14F-4D97-AF65-F5344CB8AC3E}">
        <p14:creationId xmlns:p14="http://schemas.microsoft.com/office/powerpoint/2010/main" val="330224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94F8-CF87-893F-702C-2E32A4159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24"/>
            <a:ext cx="10515600" cy="1218362"/>
          </a:xfrm>
        </p:spPr>
        <p:txBody>
          <a:bodyPr/>
          <a:lstStyle/>
          <a:p>
            <a:r>
              <a:rPr lang="en-GB" noProof="0" dirty="0"/>
              <a:t>Solving the Grounding Problem.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07A73-2C78-882F-0DAB-0C9263A9E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098" y="2615705"/>
            <a:ext cx="6022426" cy="2791136"/>
          </a:xfrm>
        </p:spPr>
        <p:txBody>
          <a:bodyPr/>
          <a:lstStyle/>
          <a:p>
            <a:r>
              <a:rPr lang="en-GB" noProof="0" dirty="0"/>
              <a:t>We need instrument instance masks</a:t>
            </a:r>
          </a:p>
          <a:p>
            <a:r>
              <a:rPr lang="en-GB" noProof="0" dirty="0"/>
              <a:t>Triplets must be linked to tools</a:t>
            </a:r>
          </a:p>
          <a:p>
            <a:r>
              <a:rPr lang="en-GB" noProof="0" dirty="0"/>
              <a:t>CholecT50(public dataset) lacked this </a:t>
            </a:r>
          </a:p>
          <a:p>
            <a:r>
              <a:rPr lang="en-GB" noProof="0" dirty="0"/>
              <a:t>So, we generated these labels and matching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77961C-783D-7498-5244-87B41D9F5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6" y="1014854"/>
            <a:ext cx="4141229" cy="57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B30B-A658-BF91-DA50-0078A0C1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6794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noProof="0" dirty="0"/>
              <a:t>CholecInstanceSeg: A Tool Instance Segmentation</a:t>
            </a:r>
            <a:br>
              <a:rPr lang="en-GB" b="1" noProof="0" dirty="0"/>
            </a:br>
            <a:r>
              <a:rPr lang="en-GB" b="1" noProof="0" dirty="0"/>
              <a:t>Dataset for Laparoscopic Surgery </a:t>
            </a:r>
            <a:r>
              <a:rPr lang="en-GB" b="1" noProof="0"/>
              <a:t>(Scientific Data)</a:t>
            </a:r>
            <a:endParaRPr lang="en-GB" b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4E55-749A-A686-F7B2-B184DE0C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127" y="1302704"/>
            <a:ext cx="5867400" cy="2721292"/>
          </a:xfrm>
        </p:spPr>
        <p:txBody>
          <a:bodyPr>
            <a:normAutofit fontScale="92500"/>
          </a:bodyPr>
          <a:lstStyle/>
          <a:p>
            <a:r>
              <a:rPr lang="en-GB" noProof="0" dirty="0"/>
              <a:t>First large-scale instrument instance segmentation dataset for laparoscopic surgery</a:t>
            </a:r>
          </a:p>
          <a:p>
            <a:r>
              <a:rPr lang="en-GB" noProof="0" dirty="0"/>
              <a:t>Annotated 40k+ frames in 1 month using Semi automatic pipeline with SAM.</a:t>
            </a:r>
          </a:p>
          <a:p>
            <a:r>
              <a:rPr lang="en-GB" noProof="0" dirty="0"/>
              <a:t>Publicly available </a:t>
            </a:r>
            <a:r>
              <a:rPr lang="en-GB" noProof="0" dirty="0">
                <a:hlinkClick r:id="rId2"/>
              </a:rPr>
              <a:t>here</a:t>
            </a:r>
            <a:endParaRPr lang="en-GB" noProof="0" dirty="0"/>
          </a:p>
        </p:txBody>
      </p:sp>
      <p:pic>
        <p:nvPicPr>
          <p:cNvPr id="5" name="Picture 4" descr="A close-up of a medical tool&#10;&#10;AI-generated content may be incorrect.">
            <a:extLst>
              <a:ext uri="{FF2B5EF4-FFF2-40B4-BE49-F238E27FC236}">
                <a16:creationId xmlns:a16="http://schemas.microsoft.com/office/drawing/2014/main" id="{12E8AE24-070E-4D92-14C2-99B02034A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93508"/>
            <a:ext cx="4451694" cy="2495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4E19B8-810A-475A-5C65-599645129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8178"/>
            <a:ext cx="2095500" cy="1866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81A36A-E98E-3DDB-CFB0-1994477A2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249" y="4258178"/>
            <a:ext cx="6826669" cy="17634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D08381-3897-981F-1B3D-08BC7D630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5194" y="4262940"/>
            <a:ext cx="27051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50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59ED-3303-8224-F11C-3994605B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1452"/>
          </a:xfrm>
        </p:spPr>
        <p:txBody>
          <a:bodyPr/>
          <a:lstStyle/>
          <a:p>
            <a:r>
              <a:rPr lang="en-GB" noProof="0" dirty="0"/>
              <a:t>Creating Grounded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1BD80-618E-80A3-D5D7-728177F75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7594" y="1615418"/>
            <a:ext cx="6477000" cy="4351338"/>
          </a:xfrm>
        </p:spPr>
        <p:txBody>
          <a:bodyPr>
            <a:normAutofit/>
          </a:bodyPr>
          <a:lstStyle/>
          <a:p>
            <a:endParaRPr lang="en-GB" noProof="0" dirty="0"/>
          </a:p>
          <a:p>
            <a:r>
              <a:rPr lang="en-GB" dirty="0"/>
              <a:t>Auto match triplet with masks</a:t>
            </a:r>
          </a:p>
          <a:p>
            <a:r>
              <a:rPr lang="en-GB" noProof="0" dirty="0"/>
              <a:t>Initial alignment fails in two cases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noProof="0" dirty="0"/>
              <a:t>Matching error – Frames with multiple identical instruments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noProof="0" dirty="0"/>
              <a:t>Conflict errors – Where instance segmentation and triplet label disagree.</a:t>
            </a:r>
          </a:p>
          <a:p>
            <a:r>
              <a:rPr lang="en-GB" noProof="0" dirty="0"/>
              <a:t>Manual correction for the two error types</a:t>
            </a:r>
          </a:p>
          <a:p>
            <a:r>
              <a:rPr lang="en-GB" dirty="0"/>
              <a:t>Dataset now has instance-linked triplets</a:t>
            </a: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8D5E9-31AD-CB2F-E4D6-5635BCD69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044" y="3966700"/>
            <a:ext cx="3741683" cy="289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59A31-2BAD-0940-82B6-B64E88A67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969" y="744563"/>
            <a:ext cx="3548758" cy="2735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C4243-12B2-A222-1F0A-B83211F69ED5}"/>
              </a:ext>
            </a:extLst>
          </p:cNvPr>
          <p:cNvSpPr txBox="1"/>
          <p:nvPr/>
        </p:nvSpPr>
        <p:spPr>
          <a:xfrm>
            <a:off x="167406" y="5227684"/>
            <a:ext cx="146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Conflict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DC57C-6B0B-C997-8997-733AAC2767E4}"/>
              </a:ext>
            </a:extLst>
          </p:cNvPr>
          <p:cNvSpPr txBox="1"/>
          <p:nvPr/>
        </p:nvSpPr>
        <p:spPr>
          <a:xfrm>
            <a:off x="275138" y="1743105"/>
            <a:ext cx="168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Matching error</a:t>
            </a:r>
          </a:p>
        </p:txBody>
      </p:sp>
    </p:spTree>
    <p:extLst>
      <p:ext uri="{BB962C8B-B14F-4D97-AF65-F5344CB8AC3E}">
        <p14:creationId xmlns:p14="http://schemas.microsoft.com/office/powerpoint/2010/main" val="116551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CB75-AA61-095D-2438-B140D647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3975"/>
            <a:ext cx="4458629" cy="662781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Baseline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986D-3042-254C-46D4-249A2C61E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5181" y="1489294"/>
            <a:ext cx="5672702" cy="4743340"/>
          </a:xfrm>
        </p:spPr>
        <p:txBody>
          <a:bodyPr>
            <a:normAutofit/>
          </a:bodyPr>
          <a:lstStyle/>
          <a:p>
            <a:r>
              <a:rPr lang="en-GB" b="1" dirty="0"/>
              <a:t>RDV (MICCAI 2022):</a:t>
            </a:r>
            <a:r>
              <a:rPr lang="en-GB" dirty="0"/>
              <a:t> Predicts triplets using attention mechanisms and a weak s but </a:t>
            </a:r>
            <a:r>
              <a:rPr lang="en-GB" b="1" dirty="0"/>
              <a:t>no localisation</a:t>
            </a:r>
          </a:p>
          <a:p>
            <a:r>
              <a:rPr lang="en-GB" b="1" dirty="0"/>
              <a:t>RDV-Det (MICCAI 2023 challenge):</a:t>
            </a:r>
            <a:r>
              <a:rPr lang="en-GB" dirty="0"/>
              <a:t> First localisation attempt (weak CAMs from the WSL to perform localization</a:t>
            </a:r>
          </a:p>
          <a:p>
            <a:r>
              <a:rPr lang="en-GB" dirty="0"/>
              <a:t>Both limited by dataset without instance masks</a:t>
            </a:r>
          </a:p>
          <a:p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06A88-35DF-E74C-478A-9FED2B2ADC83}"/>
              </a:ext>
            </a:extLst>
          </p:cNvPr>
          <p:cNvSpPr txBox="1"/>
          <p:nvPr/>
        </p:nvSpPr>
        <p:spPr>
          <a:xfrm>
            <a:off x="838200" y="6232634"/>
            <a:ext cx="1074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Nwoye et al, Rendezvous: Attention mechanisms for the recognition of surgical action triplets in endoscopic videos. Medical Image Analysis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E46203-74BC-370C-CC1C-83092F847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92" y="101236"/>
            <a:ext cx="3833340" cy="568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2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5F84-DA77-F6D0-4CC6-8BB8B1C6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Optional(CAGAM, WSL, Attention)- skip likely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414C45-D0A9-09A9-CB7D-0B66E9408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8561" y="1413029"/>
            <a:ext cx="4603595" cy="5270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009199-FD86-23EB-2DC0-5E7ED2030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365" y="1327606"/>
            <a:ext cx="3758438" cy="3314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0B00ED-F28F-6E78-1013-1719DC508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173" y="4656569"/>
            <a:ext cx="3962630" cy="201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6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67E4-13B4-0411-0769-2722EE35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12D0-708F-8C04-2C99-7E4AE312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New baselines with Grounded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3F15-5D6A-95FD-9B2B-0A4FF1DCC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170" y="4150028"/>
            <a:ext cx="10051895" cy="1570387"/>
          </a:xfrm>
        </p:spPr>
        <p:txBody>
          <a:bodyPr>
            <a:normAutofit/>
          </a:bodyPr>
          <a:lstStyle/>
          <a:p>
            <a:r>
              <a:rPr lang="en-GB" noProof="0" dirty="0"/>
              <a:t>RDV+Mask2Former: Quick heuristic pipeline</a:t>
            </a:r>
          </a:p>
          <a:p>
            <a:r>
              <a:rPr lang="en-GB" noProof="0" dirty="0"/>
              <a:t>Mask2Former-Triplet: End-to-end triplet segmentation</a:t>
            </a:r>
          </a:p>
          <a:p>
            <a:r>
              <a:rPr lang="en-GB" noProof="0" dirty="0"/>
              <a:t>Both outperform RDV-Det, proving value of grounded dataset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02BF40-7B15-0B82-E0D3-D93A62DBD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21005"/>
              </p:ext>
            </p:extLst>
          </p:nvPr>
        </p:nvGraphicFramePr>
        <p:xfrm>
          <a:off x="1664008" y="2180475"/>
          <a:ext cx="939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2864018211"/>
                    </a:ext>
                  </a:extLst>
                </a:gridCol>
                <a:gridCol w="2599165">
                  <a:extLst>
                    <a:ext uri="{9D8B030D-6E8A-4147-A177-3AD203B41FA5}">
                      <a16:colId xmlns:a16="http://schemas.microsoft.com/office/drawing/2014/main" val="2036080793"/>
                    </a:ext>
                  </a:extLst>
                </a:gridCol>
                <a:gridCol w="2099835">
                  <a:extLst>
                    <a:ext uri="{9D8B030D-6E8A-4147-A177-3AD203B41FA5}">
                      <a16:colId xmlns:a16="http://schemas.microsoft.com/office/drawing/2014/main" val="2077219983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3448708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idea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Matching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 vs RDV-Det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06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RDV+ Mask2former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RDV predictions + masks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Heuristic match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 performance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84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Mask2Former-Triplet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 triplets directly per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stage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 greater Performance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8423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9C9BFE-284F-B494-7F81-0E4AFB1B3B2E}"/>
              </a:ext>
            </a:extLst>
          </p:cNvPr>
          <p:cNvSpPr txBox="1"/>
          <p:nvPr/>
        </p:nvSpPr>
        <p:spPr>
          <a:xfrm>
            <a:off x="838200" y="6308209"/>
            <a:ext cx="1031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Bowen Cheng et al, Masked-attention Mask Transformer for Universal Image Segmentation(Mask2former)</a:t>
            </a:r>
          </a:p>
        </p:txBody>
      </p:sp>
    </p:spTree>
    <p:extLst>
      <p:ext uri="{BB962C8B-B14F-4D97-AF65-F5344CB8AC3E}">
        <p14:creationId xmlns:p14="http://schemas.microsoft.com/office/powerpoint/2010/main" val="115977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06AB-6763-CDA0-2506-E6CAED77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217B-1042-3CD3-9FA4-F748B408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77" y="1825625"/>
            <a:ext cx="11855668" cy="4351338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The evaluation metric for triplet recognition is the mean average precision (</a:t>
            </a:r>
            <a:r>
              <a:rPr lang="en-GB" noProof="0" dirty="0" err="1"/>
              <a:t>mAP</a:t>
            </a:r>
            <a:r>
              <a:rPr lang="en-GB" noProof="0" dirty="0"/>
              <a:t>) </a:t>
            </a:r>
          </a:p>
          <a:p>
            <a:r>
              <a:rPr lang="en-GB" noProof="0" dirty="0"/>
              <a:t>It is made up of 6 components. </a:t>
            </a:r>
          </a:p>
          <a:p>
            <a:pPr lvl="1"/>
            <a:r>
              <a:rPr lang="en-GB" noProof="0" dirty="0" err="1"/>
              <a:t>mAP</a:t>
            </a:r>
            <a:r>
              <a:rPr lang="en-GB" baseline="-25000" noProof="0" dirty="0" err="1"/>
              <a:t>I</a:t>
            </a:r>
            <a:r>
              <a:rPr lang="en-GB" baseline="-25000" noProof="0" dirty="0"/>
              <a:t> </a:t>
            </a:r>
            <a:r>
              <a:rPr lang="en-GB" noProof="0" dirty="0"/>
              <a:t>,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v</a:t>
            </a:r>
            <a:r>
              <a:rPr lang="en-GB" baseline="-25000" noProof="0" dirty="0"/>
              <a:t> </a:t>
            </a:r>
            <a:r>
              <a:rPr lang="en-GB" noProof="0" dirty="0"/>
              <a:t>,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t</a:t>
            </a:r>
            <a:r>
              <a:rPr lang="en-GB" noProof="0" dirty="0"/>
              <a:t> – These are called individual components, they measures the mean average precision for the instrument, verb, and target class only. </a:t>
            </a:r>
          </a:p>
          <a:p>
            <a:pPr lvl="1"/>
            <a:r>
              <a:rPr lang="en-GB" noProof="0" dirty="0" err="1"/>
              <a:t>mAP</a:t>
            </a:r>
            <a:r>
              <a:rPr lang="en-GB" baseline="-25000" noProof="0" dirty="0" err="1"/>
              <a:t>iv</a:t>
            </a:r>
            <a:r>
              <a:rPr lang="en-GB" noProof="0" dirty="0"/>
              <a:t>,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it</a:t>
            </a:r>
            <a:r>
              <a:rPr lang="en-GB" noProof="0" dirty="0"/>
              <a:t>, – These are component pair </a:t>
            </a:r>
            <a:r>
              <a:rPr lang="en-GB" noProof="0" dirty="0" err="1"/>
              <a:t>maP</a:t>
            </a:r>
            <a:r>
              <a:rPr lang="en-GB" noProof="0" dirty="0"/>
              <a:t> that measure how well we are predicting pairs.</a:t>
            </a:r>
          </a:p>
          <a:p>
            <a:pPr lvl="1"/>
            <a:r>
              <a:rPr lang="en-GB" noProof="0" dirty="0" err="1"/>
              <a:t>mAP</a:t>
            </a:r>
            <a:r>
              <a:rPr lang="en-GB" baseline="-25000" noProof="0" dirty="0" err="1"/>
              <a:t>ivt</a:t>
            </a:r>
            <a:r>
              <a:rPr lang="en-GB" baseline="30000" noProof="0" dirty="0"/>
              <a:t> </a:t>
            </a:r>
            <a:r>
              <a:rPr lang="en-GB" noProof="0" dirty="0"/>
              <a:t>This is the triplet </a:t>
            </a:r>
            <a:r>
              <a:rPr lang="en-GB" noProof="0" dirty="0" err="1"/>
              <a:t>mAP</a:t>
            </a:r>
            <a:r>
              <a:rPr lang="en-GB" noProof="0" dirty="0"/>
              <a:t> metric. The main metric. </a:t>
            </a:r>
          </a:p>
          <a:p>
            <a:r>
              <a:rPr lang="en-GB" noProof="0" dirty="0"/>
              <a:t>These six metrics exists for </a:t>
            </a:r>
          </a:p>
          <a:p>
            <a:pPr lvl="1"/>
            <a:r>
              <a:rPr lang="en-GB" noProof="0" dirty="0"/>
              <a:t>The triplet recognition – 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X</a:t>
            </a:r>
            <a:r>
              <a:rPr lang="en-GB" baseline="30000" noProof="0" dirty="0" err="1"/>
              <a:t>rec</a:t>
            </a:r>
            <a:r>
              <a:rPr lang="en-GB" baseline="30000" noProof="0" dirty="0"/>
              <a:t> </a:t>
            </a:r>
            <a:r>
              <a:rPr lang="en-GB" noProof="0" dirty="0"/>
              <a:t>which measures how well labels are predicted</a:t>
            </a:r>
          </a:p>
          <a:p>
            <a:pPr lvl="1"/>
            <a:r>
              <a:rPr lang="en-GB" noProof="0" dirty="0"/>
              <a:t>The triplet detection –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X</a:t>
            </a:r>
            <a:r>
              <a:rPr lang="en-GB" baseline="30000" noProof="0" dirty="0" err="1"/>
              <a:t>det</a:t>
            </a:r>
            <a:r>
              <a:rPr lang="en-GB" noProof="0" dirty="0"/>
              <a:t> which measures how well you are predicting triplets and localizing with bounding box</a:t>
            </a:r>
          </a:p>
          <a:p>
            <a:pPr lvl="1"/>
            <a:r>
              <a:rPr lang="en-GB" noProof="0" dirty="0"/>
              <a:t>The triplet segmentation  –  </a:t>
            </a:r>
            <a:r>
              <a:rPr lang="en-GB" noProof="0" dirty="0" err="1"/>
              <a:t>mAP</a:t>
            </a:r>
            <a:r>
              <a:rPr lang="en-GB" baseline="-25000" noProof="0" dirty="0" err="1"/>
              <a:t>X</a:t>
            </a:r>
            <a:r>
              <a:rPr lang="en-GB" baseline="30000" noProof="0" dirty="0" err="1"/>
              <a:t>seg</a:t>
            </a:r>
            <a:r>
              <a:rPr lang="en-GB" noProof="0" dirty="0"/>
              <a:t> which measures how well you are predicting triplets and localizing by segmentation</a:t>
            </a:r>
          </a:p>
        </p:txBody>
      </p:sp>
    </p:spTree>
    <p:extLst>
      <p:ext uri="{BB962C8B-B14F-4D97-AF65-F5344CB8AC3E}">
        <p14:creationId xmlns:p14="http://schemas.microsoft.com/office/powerpoint/2010/main" val="2005691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E38E-41B9-8DA6-35A2-63D32D79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Target Prediction Matters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EEE8-730F-DAD4-FB63-1C6A71348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510" y="1825625"/>
            <a:ext cx="5887261" cy="4351338"/>
          </a:xfrm>
        </p:spPr>
        <p:txBody>
          <a:bodyPr>
            <a:normAutofit/>
          </a:bodyPr>
          <a:lstStyle/>
          <a:p>
            <a:r>
              <a:rPr lang="en-GB" dirty="0"/>
              <a:t>component metric indicate that target prediction is hardest</a:t>
            </a:r>
          </a:p>
          <a:p>
            <a:r>
              <a:rPr lang="en-GB" dirty="0"/>
              <a:t>6 instruments, 10 verbs, </a:t>
            </a:r>
            <a:r>
              <a:rPr lang="en-GB" b="1" dirty="0"/>
              <a:t>15 targets</a:t>
            </a:r>
            <a:r>
              <a:rPr lang="en-GB" dirty="0"/>
              <a:t> → hardest task</a:t>
            </a:r>
          </a:p>
          <a:p>
            <a:r>
              <a:rPr lang="en-GB" dirty="0"/>
              <a:t>No annotated targets → weaker predictions</a:t>
            </a:r>
          </a:p>
          <a:p>
            <a:r>
              <a:rPr lang="en-GB" noProof="0" dirty="0"/>
              <a:t>Improving targets is critical for overall performance.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8A9F7-D76B-10C7-0A47-E4A56F8AE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1" y="2059801"/>
            <a:ext cx="5819370" cy="35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8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4590-F1AD-9553-0328-67BF850E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39766"/>
            <a:ext cx="5699234" cy="1325563"/>
          </a:xfrm>
        </p:spPr>
        <p:txBody>
          <a:bodyPr/>
          <a:lstStyle/>
          <a:p>
            <a:r>
              <a:rPr lang="en-GB" noProof="0" dirty="0"/>
              <a:t>Target Fusion network.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7B41B-EEA6-9AFD-5276-6EDCF0ABA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2" y="1804605"/>
            <a:ext cx="5331372" cy="4351338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There is another dataset which is annotated for 7 targets (Not our 15 targets)</a:t>
            </a:r>
          </a:p>
          <a:p>
            <a:r>
              <a:rPr lang="en-GB" noProof="0" dirty="0"/>
              <a:t>It was used to train </a:t>
            </a:r>
            <a:r>
              <a:rPr lang="en-GB" noProof="0" dirty="0" err="1"/>
              <a:t>EndoViT</a:t>
            </a:r>
            <a:r>
              <a:rPr lang="en-GB" noProof="0" dirty="0"/>
              <a:t> which gives good results</a:t>
            </a:r>
          </a:p>
          <a:p>
            <a:r>
              <a:rPr lang="en-GB" dirty="0"/>
              <a:t>Leverage weak target masks (pseudo-ground truth)</a:t>
            </a:r>
          </a:p>
          <a:p>
            <a:r>
              <a:rPr lang="en-GB" dirty="0"/>
              <a:t>Fuse anatomy cues with gated cross-attention</a:t>
            </a:r>
            <a:r>
              <a:rPr lang="en-GB" noProof="0" dirty="0"/>
              <a:t>. </a:t>
            </a:r>
          </a:p>
          <a:p>
            <a:r>
              <a:rPr lang="en-GB" noProof="0" dirty="0"/>
              <a:t> </a:t>
            </a:r>
            <a:r>
              <a:rPr lang="en-GB" dirty="0"/>
              <a:t>End-to-end training with triplet segmentation</a:t>
            </a: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7F9AC-16D8-E50B-E89C-3828DB62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6" y="0"/>
            <a:ext cx="5223641" cy="6026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D23DB9-56F0-4258-D1AB-F2EA62C1BB5E}"/>
              </a:ext>
            </a:extLst>
          </p:cNvPr>
          <p:cNvSpPr txBox="1"/>
          <p:nvPr/>
        </p:nvSpPr>
        <p:spPr>
          <a:xfrm>
            <a:off x="197068" y="6155943"/>
            <a:ext cx="5423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Weak Anatomy masks from </a:t>
            </a:r>
            <a:r>
              <a:rPr lang="en-GB" noProof="0" dirty="0" err="1"/>
              <a:t>EndoViT</a:t>
            </a:r>
            <a:r>
              <a:rPr lang="en-GB" noProof="0" dirty="0"/>
              <a:t>. (a), (b) are good, but c and d are poor.  </a:t>
            </a:r>
          </a:p>
        </p:txBody>
      </p:sp>
    </p:spTree>
    <p:extLst>
      <p:ext uri="{BB962C8B-B14F-4D97-AF65-F5344CB8AC3E}">
        <p14:creationId xmlns:p14="http://schemas.microsoft.com/office/powerpoint/2010/main" val="369984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654D-82A8-42A1-114E-CD08A25C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TargetFusionNet</a:t>
            </a:r>
            <a:r>
              <a:rPr lang="en-GB" noProof="0" dirty="0"/>
              <a:t>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CC9B56-0577-DD2C-E422-F05C50777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0365" y="1352659"/>
            <a:ext cx="9991269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549DB7-F904-DB4D-EE11-3A7D3ADB49BE}"/>
              </a:ext>
            </a:extLst>
          </p:cNvPr>
          <p:cNvSpPr txBox="1"/>
          <p:nvPr/>
        </p:nvSpPr>
        <p:spPr>
          <a:xfrm>
            <a:off x="336332" y="5505341"/>
            <a:ext cx="1113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We extend Mask2former – Pseudo-Anatomy encoder and target Fusion Module with gating. </a:t>
            </a:r>
          </a:p>
          <a:p>
            <a:r>
              <a:rPr lang="en-US" dirty="0"/>
              <a:t>Use soft anatomy priors to add information about target localization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7929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EE46-B074-263B-9265-2DF80684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59" y="18284"/>
            <a:ext cx="11849681" cy="917137"/>
          </a:xfrm>
        </p:spPr>
        <p:txBody>
          <a:bodyPr>
            <a:normAutofit/>
          </a:bodyPr>
          <a:lstStyle/>
          <a:p>
            <a:r>
              <a:rPr lang="en-GB" sz="4000" noProof="0" dirty="0"/>
              <a:t>Results Segmentation, Detection and Recognition metrics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45B0D-5F89-5884-3B0B-0E21CE49924A}"/>
              </a:ext>
            </a:extLst>
          </p:cNvPr>
          <p:cNvSpPr txBox="1"/>
          <p:nvPr/>
        </p:nvSpPr>
        <p:spPr>
          <a:xfrm>
            <a:off x="171159" y="1456011"/>
            <a:ext cx="2582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Segmentation Results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F4CE53-7F95-264E-5467-7170E3DB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918" y="2546951"/>
            <a:ext cx="9233526" cy="14105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6B4A2AD-4ADE-5F1F-BDF0-55D792946A6C}"/>
              </a:ext>
            </a:extLst>
          </p:cNvPr>
          <p:cNvSpPr txBox="1"/>
          <p:nvPr/>
        </p:nvSpPr>
        <p:spPr>
          <a:xfrm>
            <a:off x="143000" y="3078405"/>
            <a:ext cx="2148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Detection Results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3D13EE-7B1C-3E31-A4B0-D0ACEC31A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918" y="4180551"/>
            <a:ext cx="9087710" cy="13454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5E25B4C-BA73-94B0-0544-26190EEF19C9}"/>
              </a:ext>
            </a:extLst>
          </p:cNvPr>
          <p:cNvSpPr txBox="1"/>
          <p:nvPr/>
        </p:nvSpPr>
        <p:spPr>
          <a:xfrm>
            <a:off x="263869" y="4700799"/>
            <a:ext cx="2148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Recognition 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E0074B-ECB0-7AED-DE76-0E90DA9C18BD}"/>
              </a:ext>
            </a:extLst>
          </p:cNvPr>
          <p:cNvSpPr txBox="1"/>
          <p:nvPr/>
        </p:nvSpPr>
        <p:spPr>
          <a:xfrm>
            <a:off x="536028" y="5654566"/>
            <a:ext cx="1110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Grounded dataset improves all metrics</a:t>
            </a:r>
          </a:p>
          <a:p>
            <a:r>
              <a:rPr lang="en-GB" dirty="0"/>
              <a:t>Mask2Former-Triplet &gt;&gt;&gt;&gt; heuristic baseline (which does not work)</a:t>
            </a:r>
            <a:br>
              <a:rPr lang="en-GB" dirty="0"/>
            </a:br>
            <a:r>
              <a:rPr lang="en-GB" dirty="0" err="1"/>
              <a:t>TargetFusionNet</a:t>
            </a:r>
            <a:r>
              <a:rPr lang="en-GB" dirty="0"/>
              <a:t> further improves target + triplet </a:t>
            </a:r>
            <a:r>
              <a:rPr lang="en-GB" dirty="0" err="1"/>
              <a:t>mAP</a:t>
            </a:r>
            <a:r>
              <a:rPr lang="en-GB" dirty="0"/>
              <a:t> </a:t>
            </a:r>
          </a:p>
          <a:p>
            <a:r>
              <a:rPr lang="en-GB" noProof="0" dirty="0"/>
              <a:t>Added bonus that grounding also improves the recognition task.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1B425D6-EEA2-F518-1375-7A0B85FF9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756" y="749018"/>
            <a:ext cx="9299104" cy="134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2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9880</TotalTime>
  <Words>1512</Words>
  <Application>Microsoft Office PowerPoint</Application>
  <PresentationFormat>Widescreen</PresentationFormat>
  <Paragraphs>149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Grounding Surgical Action Triplets with Instrument Instance Segmentation</vt:lpstr>
      <vt:lpstr>Introduction</vt:lpstr>
      <vt:lpstr>Surgical Action Triplets (Intro…)</vt:lpstr>
      <vt:lpstr>Why Surgical action triplets</vt:lpstr>
      <vt:lpstr>Triplet Recognition: The Original Task</vt:lpstr>
      <vt:lpstr>Solving the Grounding Problem.</vt:lpstr>
      <vt:lpstr>CholecInstanceSeg: A Tool Instance Segmentation Dataset for Laparoscopic Surgery (Scientific Data)</vt:lpstr>
      <vt:lpstr>Creating Grounded dataset</vt:lpstr>
      <vt:lpstr>Baseline Models</vt:lpstr>
      <vt:lpstr>Optional(CAGAM, WSL, Attention)- skip likely</vt:lpstr>
      <vt:lpstr>New baselines with Grounded Data</vt:lpstr>
      <vt:lpstr>Evaluation metrics</vt:lpstr>
      <vt:lpstr>Why Target Prediction Matters</vt:lpstr>
      <vt:lpstr>Target Fusion network. </vt:lpstr>
      <vt:lpstr>TargetFusionNet Architecture</vt:lpstr>
      <vt:lpstr>Results Segmentation, Detection and Recognition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 on Xth of Y-ber by Oluwatosin Alabi</dc:title>
  <dc:creator>OLUWATOSIN ALABI</dc:creator>
  <cp:lastModifiedBy>OLUWATOSIN ALABI</cp:lastModifiedBy>
  <cp:revision>501</cp:revision>
  <dcterms:created xsi:type="dcterms:W3CDTF">2022-12-09T06:41:55Z</dcterms:created>
  <dcterms:modified xsi:type="dcterms:W3CDTF">2026-05-20T17:39:37Z</dcterms:modified>
</cp:coreProperties>
</file>